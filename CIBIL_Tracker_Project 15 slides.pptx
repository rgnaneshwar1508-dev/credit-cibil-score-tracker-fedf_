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40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572000" cy="4572000"/>
          </a:xfrm>
          <a:prstGeom prst="ellipse">
            <a:avLst/>
          </a:prstGeom>
          <a:solidFill>
            <a:srgbClr val="0C7C73">
              <a:alpha val="20000"/>
            </a:srgbClr>
          </a:solidFill>
          <a:ln/>
        </p:spPr>
      </p:sp>
      <p:sp>
        <p:nvSpPr>
          <p:cNvPr id="3" name="Shape 1"/>
          <p:cNvSpPr/>
          <p:nvPr/>
        </p:nvSpPr>
        <p:spPr>
          <a:xfrm>
            <a:off x="-1371600" y="4754880"/>
            <a:ext cx="3657600" cy="3657600"/>
          </a:xfrm>
          <a:prstGeom prst="ellipse">
            <a:avLst/>
          </a:prstGeom>
          <a:solidFill>
            <a:srgbClr val="13A89E">
              <a:alpha val="15000"/>
            </a:srgbClr>
          </a:solidFill>
          <a:ln/>
        </p:spPr>
      </p:sp>
      <p:sp>
        <p:nvSpPr>
          <p:cNvPr id="4" name="Shape 2"/>
          <p:cNvSpPr/>
          <p:nvPr/>
        </p:nvSpPr>
        <p:spPr>
          <a:xfrm>
            <a:off x="822960" y="777240"/>
            <a:ext cx="822960" cy="822960"/>
          </a:xfrm>
          <a:prstGeom prst="ellipse">
            <a:avLst/>
          </a:prstGeom>
          <a:solidFill>
            <a:srgbClr val="0C7C73"/>
          </a:solidFill>
          <a:ln/>
        </p:spPr>
      </p:sp>
      <p:pic>
        <p:nvPicPr>
          <p:cNvPr id="5" name="Image 0" descr="preencoded.png"/>
          <p:cNvPicPr>
            <a:picLocks noChangeAspect="1"/>
          </p:cNvPicPr>
          <p:nvPr/>
        </p:nvPicPr>
        <p:blipFill>
          <a:blip r:embed="rId3"/>
          <a:stretch>
            <a:fillRect/>
          </a:stretch>
        </p:blipFill>
        <p:spPr>
          <a:xfrm>
            <a:off x="1008126" y="962406"/>
            <a:ext cx="452628" cy="452628"/>
          </a:xfrm>
          <a:prstGeom prst="rect">
            <a:avLst/>
          </a:prstGeom>
        </p:spPr>
      </p:pic>
      <p:sp>
        <p:nvSpPr>
          <p:cNvPr id="6" name="Text 3"/>
          <p:cNvSpPr/>
          <p:nvPr/>
        </p:nvSpPr>
        <p:spPr>
          <a:xfrm>
            <a:off x="822960" y="1828800"/>
            <a:ext cx="7315200" cy="365760"/>
          </a:xfrm>
          <a:prstGeom prst="rect">
            <a:avLst/>
          </a:prstGeom>
          <a:noFill/>
          <a:ln/>
        </p:spPr>
        <p:txBody>
          <a:bodyPr wrap="square" rtlCol="0" anchor="ctr"/>
          <a:lstStyle/>
          <a:p>
            <a:pPr marL="0" indent="0">
              <a:buNone/>
            </a:pPr>
            <a:r>
              <a:rPr lang="en-US" sz="1300" b="1" kern="0" spc="200" dirty="0">
                <a:solidFill>
                  <a:srgbClr val="8FE3D9"/>
                </a:solidFill>
                <a:latin typeface="Calibri" pitchFamily="34" charset="0"/>
                <a:ea typeface="Calibri" pitchFamily="34" charset="-122"/>
                <a:cs typeface="Calibri" pitchFamily="34" charset="-120"/>
              </a:rPr>
              <a:t>FEDF COURSE PROJECT  •  25CS1201E</a:t>
            </a:r>
            <a:endParaRPr lang="en-US" sz="1300" dirty="0"/>
          </a:p>
        </p:txBody>
      </p:sp>
      <p:sp>
        <p:nvSpPr>
          <p:cNvPr id="7" name="Text 4"/>
          <p:cNvSpPr/>
          <p:nvPr/>
        </p:nvSpPr>
        <p:spPr>
          <a:xfrm>
            <a:off x="822960" y="2240280"/>
            <a:ext cx="10058400"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Credit CIBIL Score Tracker</a:t>
            </a:r>
            <a:endParaRPr lang="en-US" sz="4600" dirty="0"/>
          </a:p>
        </p:txBody>
      </p:sp>
      <p:sp>
        <p:nvSpPr>
          <p:cNvPr id="8" name="Text 5"/>
          <p:cNvSpPr/>
          <p:nvPr/>
        </p:nvSpPr>
        <p:spPr>
          <a:xfrm>
            <a:off x="822960" y="3246120"/>
            <a:ext cx="8686800" cy="457200"/>
          </a:xfrm>
          <a:prstGeom prst="rect">
            <a:avLst/>
          </a:prstGeom>
          <a:noFill/>
          <a:ln/>
        </p:spPr>
        <p:txBody>
          <a:bodyPr wrap="square" rtlCol="0" anchor="ctr"/>
          <a:lstStyle/>
          <a:p>
            <a:pPr marL="0" indent="0">
              <a:buNone/>
            </a:pPr>
            <a:r>
              <a:rPr lang="en-US" sz="1600" i="1" dirty="0">
                <a:solidFill>
                  <a:srgbClr val="C9D6E3"/>
                </a:solidFill>
                <a:latin typeface="Calibri" pitchFamily="34" charset="0"/>
                <a:ea typeface="Calibri" pitchFamily="34" charset="-122"/>
                <a:cs typeface="Calibri" pitchFamily="34" charset="-120"/>
              </a:rPr>
              <a:t>A React-based web application to check, monitor, and improve your credit score</a:t>
            </a:r>
            <a:endParaRPr lang="en-US" sz="1600" dirty="0"/>
          </a:p>
        </p:txBody>
      </p:sp>
      <p:sp>
        <p:nvSpPr>
          <p:cNvPr id="9" name="Shape 6"/>
          <p:cNvSpPr/>
          <p:nvPr/>
        </p:nvSpPr>
        <p:spPr>
          <a:xfrm>
            <a:off x="822960" y="4572000"/>
            <a:ext cx="6949440" cy="1554480"/>
          </a:xfrm>
          <a:prstGeom prst="roundRect">
            <a:avLst>
              <a:gd name="adj" fmla="val 4706"/>
            </a:avLst>
          </a:prstGeom>
          <a:solidFill>
            <a:srgbClr val="FFFFFF"/>
          </a:solidFill>
          <a:ln/>
          <a:effectLst>
            <a:outerShdw blurRad="101600" dist="38100" dir="5400000" algn="bl" rotWithShape="0">
              <a:srgbClr val="000000">
                <a:alpha val="25000"/>
              </a:srgbClr>
            </a:outerShdw>
          </a:effectLst>
        </p:spPr>
      </p:sp>
      <p:sp>
        <p:nvSpPr>
          <p:cNvPr id="10" name="Shape 7"/>
          <p:cNvSpPr/>
          <p:nvPr/>
        </p:nvSpPr>
        <p:spPr>
          <a:xfrm>
            <a:off x="1051560" y="4800600"/>
            <a:ext cx="548640" cy="548640"/>
          </a:xfrm>
          <a:prstGeom prst="ellipse">
            <a:avLst/>
          </a:prstGeom>
          <a:solidFill>
            <a:srgbClr val="0C7C73"/>
          </a:solidFill>
          <a:ln/>
        </p:spPr>
      </p:sp>
      <p:pic>
        <p:nvPicPr>
          <p:cNvPr id="11" name="Image 1" descr="preencoded.png"/>
          <p:cNvPicPr>
            <a:picLocks noChangeAspect="1"/>
          </p:cNvPicPr>
          <p:nvPr/>
        </p:nvPicPr>
        <p:blipFill>
          <a:blip r:embed="rId4"/>
          <a:stretch>
            <a:fillRect/>
          </a:stretch>
        </p:blipFill>
        <p:spPr>
          <a:xfrm>
            <a:off x="1175004" y="4924044"/>
            <a:ext cx="301752" cy="301752"/>
          </a:xfrm>
          <a:prstGeom prst="rect">
            <a:avLst/>
          </a:prstGeom>
        </p:spPr>
      </p:pic>
      <p:sp>
        <p:nvSpPr>
          <p:cNvPr id="12" name="Text 8"/>
          <p:cNvSpPr/>
          <p:nvPr/>
        </p:nvSpPr>
        <p:spPr>
          <a:xfrm>
            <a:off x="1783080" y="4736592"/>
            <a:ext cx="3657600" cy="274320"/>
          </a:xfrm>
          <a:prstGeom prst="rect">
            <a:avLst/>
          </a:prstGeom>
          <a:noFill/>
          <a:ln/>
        </p:spPr>
        <p:txBody>
          <a:bodyPr wrap="square" rtlCol="0" anchor="ctr"/>
          <a:lstStyle/>
          <a:p>
            <a:pPr marL="0" indent="0">
              <a:buNone/>
            </a:pPr>
            <a:r>
              <a:rPr lang="en-US" sz="1100" b="1" dirty="0">
                <a:solidFill>
                  <a:srgbClr val="5C7080"/>
                </a:solidFill>
                <a:latin typeface="Calibri" pitchFamily="34" charset="0"/>
                <a:ea typeface="Calibri" pitchFamily="34" charset="-122"/>
                <a:cs typeface="Calibri" pitchFamily="34" charset="-120"/>
              </a:rPr>
              <a:t>Team Members</a:t>
            </a:r>
            <a:endParaRPr lang="en-US" sz="1100" dirty="0"/>
          </a:p>
        </p:txBody>
      </p:sp>
      <p:sp>
        <p:nvSpPr>
          <p:cNvPr id="13" name="Text 9"/>
          <p:cNvSpPr/>
          <p:nvPr/>
        </p:nvSpPr>
        <p:spPr>
          <a:xfrm>
            <a:off x="1783080" y="5010912"/>
            <a:ext cx="5760720" cy="274320"/>
          </a:xfrm>
          <a:prstGeom prst="rect">
            <a:avLst/>
          </a:prstGeom>
          <a:noFill/>
          <a:ln/>
        </p:spPr>
        <p:txBody>
          <a:bodyPr wrap="square" rtlCol="0" anchor="ctr"/>
          <a:lstStyle/>
          <a:p>
            <a:pPr marL="0" indent="0">
              <a:buNone/>
            </a:pPr>
            <a:r>
              <a:rPr lang="en-US" sz="1350" b="1" dirty="0">
                <a:solidFill>
                  <a:srgbClr val="16243A"/>
                </a:solidFill>
                <a:latin typeface="Calibri" pitchFamily="34" charset="0"/>
                <a:ea typeface="Calibri" pitchFamily="34" charset="-122"/>
                <a:cs typeface="Calibri" pitchFamily="34" charset="-120"/>
              </a:rPr>
              <a:t>B. Ranga Charvik   —   2520040108</a:t>
            </a:r>
            <a:endParaRPr lang="en-US" sz="1350" dirty="0"/>
          </a:p>
        </p:txBody>
      </p:sp>
      <p:sp>
        <p:nvSpPr>
          <p:cNvPr id="14" name="Text 10"/>
          <p:cNvSpPr/>
          <p:nvPr/>
        </p:nvSpPr>
        <p:spPr>
          <a:xfrm>
            <a:off x="1783080" y="5321808"/>
            <a:ext cx="5760720" cy="274320"/>
          </a:xfrm>
          <a:prstGeom prst="rect">
            <a:avLst/>
          </a:prstGeom>
          <a:noFill/>
          <a:ln/>
        </p:spPr>
        <p:txBody>
          <a:bodyPr wrap="square" rtlCol="0" anchor="ctr"/>
          <a:lstStyle/>
          <a:p>
            <a:pPr marL="0" indent="0">
              <a:buNone/>
            </a:pPr>
            <a:r>
              <a:rPr lang="en-US" sz="1350" b="1" dirty="0">
                <a:solidFill>
                  <a:srgbClr val="16243A"/>
                </a:solidFill>
                <a:latin typeface="Calibri" pitchFamily="34" charset="0"/>
                <a:ea typeface="Calibri" pitchFamily="34" charset="-122"/>
                <a:cs typeface="Calibri" pitchFamily="34" charset="-120"/>
              </a:rPr>
              <a:t>R. Gnaneshwar      —   2520040076   </a:t>
            </a:r>
            <a:endParaRPr lang="en-US" sz="1350" dirty="0"/>
          </a:p>
        </p:txBody>
      </p:sp>
      <p:sp>
        <p:nvSpPr>
          <p:cNvPr id="15" name="Text 11"/>
          <p:cNvSpPr/>
          <p:nvPr/>
        </p:nvSpPr>
        <p:spPr>
          <a:xfrm>
            <a:off x="1783080" y="5650992"/>
            <a:ext cx="5760720" cy="274320"/>
          </a:xfrm>
          <a:prstGeom prst="rect">
            <a:avLst/>
          </a:prstGeom>
          <a:noFill/>
          <a:ln/>
        </p:spPr>
        <p:txBody>
          <a:bodyPr wrap="square" rtlCol="0" anchor="ctr"/>
          <a:lstStyle/>
          <a:p>
            <a:pPr marL="0" indent="0">
              <a:buNone/>
            </a:pPr>
            <a:r>
              <a:rPr lang="en-US" sz="1050" dirty="0">
                <a:solidFill>
                  <a:srgbClr val="5C7080"/>
                </a:solidFill>
                <a:latin typeface="Calibri" pitchFamily="34" charset="0"/>
                <a:ea typeface="Calibri" pitchFamily="34" charset="-122"/>
                <a:cs typeface="Calibri" pitchFamily="34" charset="-120"/>
              </a:rPr>
              <a:t>B.Tech ECE, Batch 2025–2029  |  KLH Deemed to be University, Hyderabad</a:t>
            </a:r>
            <a:endParaRPr lang="en-US" sz="1050" dirty="0"/>
          </a:p>
        </p:txBody>
      </p:sp>
      <p:sp>
        <p:nvSpPr>
          <p:cNvPr id="16" name="Text 12"/>
          <p:cNvSpPr/>
          <p:nvPr/>
        </p:nvSpPr>
        <p:spPr>
          <a:xfrm>
            <a:off x="822960" y="6355080"/>
            <a:ext cx="8229600" cy="274320"/>
          </a:xfrm>
          <a:prstGeom prst="rect">
            <a:avLst/>
          </a:prstGeom>
          <a:noFill/>
          <a:ln/>
        </p:spPr>
        <p:txBody>
          <a:bodyPr wrap="square" rtlCol="0" anchor="ctr"/>
          <a:lstStyle/>
          <a:p>
            <a:pPr marL="0" indent="0">
              <a:buNone/>
            </a:pPr>
            <a:r>
              <a:rPr lang="en-US" sz="1050" dirty="0">
                <a:solidFill>
                  <a:srgbClr val="8FA3B8"/>
                </a:solidFill>
                <a:latin typeface="Calibri" pitchFamily="34" charset="0"/>
                <a:ea typeface="Calibri" pitchFamily="34" charset="-122"/>
                <a:cs typeface="Calibri" pitchFamily="34" charset="-120"/>
              </a:rPr>
              <a:t>Course: Front End Development Frameworks and UI Engineering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54864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Abstract</a:t>
            </a:r>
            <a:endParaRPr lang="en-US" sz="3000" dirty="0"/>
          </a:p>
        </p:txBody>
      </p:sp>
      <p:sp>
        <p:nvSpPr>
          <p:cNvPr id="3" name="Text 1"/>
          <p:cNvSpPr/>
          <p:nvPr/>
        </p:nvSpPr>
        <p:spPr>
          <a:xfrm>
            <a:off x="640080" y="960120"/>
            <a:ext cx="54864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Project overview in brief</a:t>
            </a:r>
            <a:endParaRPr lang="en-US" sz="1300" dirty="0"/>
          </a:p>
        </p:txBody>
      </p:sp>
      <p:sp>
        <p:nvSpPr>
          <p:cNvPr id="4" name="Shape 2"/>
          <p:cNvSpPr/>
          <p:nvPr/>
        </p:nvSpPr>
        <p:spPr>
          <a:xfrm>
            <a:off x="640080" y="1463040"/>
            <a:ext cx="10881360" cy="4754880"/>
          </a:xfrm>
          <a:prstGeom prst="roundRect">
            <a:avLst>
              <a:gd name="adj" fmla="val 1154"/>
            </a:avLst>
          </a:prstGeom>
          <a:solidFill>
            <a:srgbClr val="FFFFFF"/>
          </a:solidFill>
          <a:ln/>
          <a:effectLst>
            <a:outerShdw blurRad="127000" dist="25400" dir="5400000" algn="bl" rotWithShape="0">
              <a:srgbClr val="000000">
                <a:alpha val="10000"/>
              </a:srgbClr>
            </a:outerShdw>
          </a:effectLst>
        </p:spPr>
      </p:sp>
      <p:sp>
        <p:nvSpPr>
          <p:cNvPr id="5" name="Text 3"/>
          <p:cNvSpPr/>
          <p:nvPr/>
        </p:nvSpPr>
        <p:spPr>
          <a:xfrm>
            <a:off x="1005840" y="1783080"/>
            <a:ext cx="10149840" cy="4206240"/>
          </a:xfrm>
          <a:prstGeom prst="rect">
            <a:avLst/>
          </a:prstGeom>
          <a:noFill/>
          <a:ln/>
        </p:spPr>
        <p:txBody>
          <a:bodyPr wrap="square" rtlCol="0" anchor="t"/>
          <a:lstStyle/>
          <a:p>
            <a:pPr marL="0" indent="0" algn="l">
              <a:lnSpc>
                <a:spcPct val="125000"/>
              </a:lnSpc>
              <a:buNone/>
            </a:pPr>
            <a:r>
              <a:rPr lang="en-US" sz="1350" dirty="0">
                <a:solidFill>
                  <a:srgbClr val="16243A"/>
                </a:solidFill>
                <a:latin typeface="Calibri" pitchFamily="34" charset="0"/>
                <a:ea typeface="Calibri" pitchFamily="34" charset="-122"/>
                <a:cs typeface="Calibri" pitchFamily="34" charset="-120"/>
              </a:rPr>
              <a:t>The Credit CIBIL Score Tracker is a web-based frontend application built using React.js that allows users to monitor, check, and improve their credit score over time. Users can register, log in, and access a personalized dashboard showing their current CIBIL score, score trend, and key financial indicators such as payment history, credit utilization, and credit age.</a:t>
            </a:r>
            <a:endParaRPr lang="en-US" sz="1350" dirty="0"/>
          </a:p>
          <a:p>
            <a:pPr marL="0" indent="0" algn="l">
              <a:lnSpc>
                <a:spcPct val="125000"/>
              </a:lnSpc>
              <a:buNone/>
            </a:pPr>
            <a:endParaRPr lang="en-US" sz="1350" dirty="0"/>
          </a:p>
          <a:p>
            <a:pPr marL="0" indent="0" algn="l">
              <a:lnSpc>
                <a:spcPct val="125000"/>
              </a:lnSpc>
              <a:buNone/>
            </a:pPr>
            <a:r>
              <a:rPr lang="en-US" sz="1350" dirty="0">
                <a:solidFill>
                  <a:srgbClr val="16243A"/>
                </a:solidFill>
                <a:latin typeface="Calibri" pitchFamily="34" charset="0"/>
                <a:ea typeface="Calibri" pitchFamily="34" charset="-122"/>
                <a:cs typeface="Calibri" pitchFamily="34" charset="-120"/>
              </a:rPr>
              <a:t>Beyond basic score tracking, the system includes ten functional modules: score display, report breakdown, a dispute form for incorrect entries, score improvement tips, loan and card eligibility hints, score history, real-time notifications, an admin panel for managing users and disputes, and an export feature to download reports. The application is built entirely on the frontend using React Hooks, the Context API for global state management, and React Router DOM for protected, multi-page navigation — without any external UI framework, using plain CSS for styling.</a:t>
            </a:r>
            <a:endParaRPr lang="en-US" sz="1350" dirty="0"/>
          </a:p>
          <a:p>
            <a:pPr marL="0" indent="0" algn="l">
              <a:lnSpc>
                <a:spcPct val="125000"/>
              </a:lnSpc>
              <a:buNone/>
            </a:pPr>
            <a:endParaRPr lang="en-US" sz="1350" dirty="0"/>
          </a:p>
          <a:p>
            <a:pPr marL="0" indent="0" algn="l">
              <a:lnSpc>
                <a:spcPct val="125000"/>
              </a:lnSpc>
              <a:buNone/>
            </a:pPr>
            <a:r>
              <a:rPr lang="en-US" sz="1350" dirty="0">
                <a:solidFill>
                  <a:srgbClr val="16243A"/>
                </a:solidFill>
                <a:latin typeface="Calibri" pitchFamily="34" charset="0"/>
                <a:ea typeface="Calibri" pitchFamily="34" charset="-122"/>
                <a:cs typeface="Calibri" pitchFamily="34" charset="-120"/>
              </a:rPr>
              <a:t>This project was developed by a team of two as part of the Front End Development Frameworks and UI Engineering course (25CS1201E) at KL Deemed to be University, applying the engineering concepts from all six Course Outcomes (CO1–CO6) to a practical, real-world inspired banking application.</a:t>
            </a:r>
            <a:endParaRPr lang="en-US" sz="1350" dirty="0"/>
          </a:p>
        </p:txBody>
      </p:sp>
      <p:sp>
        <p:nvSpPr>
          <p:cNvPr id="6" name="Text 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7" name="Text 5"/>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Problem Statement</a:t>
            </a:r>
            <a:endParaRPr lang="en-US" sz="3000" dirty="0"/>
          </a:p>
        </p:txBody>
      </p:sp>
      <p:sp>
        <p:nvSpPr>
          <p:cNvPr id="3" name="Shape 1"/>
          <p:cNvSpPr/>
          <p:nvPr/>
        </p:nvSpPr>
        <p:spPr>
          <a:xfrm>
            <a:off x="640080" y="1371600"/>
            <a:ext cx="5303520" cy="4846320"/>
          </a:xfrm>
          <a:prstGeom prst="roundRect">
            <a:avLst>
              <a:gd name="adj" fmla="val 1132"/>
            </a:avLst>
          </a:prstGeom>
          <a:solidFill>
            <a:srgbClr val="0B2545"/>
          </a:solidFill>
          <a:ln/>
          <a:effectLst>
            <a:outerShdw blurRad="127000" dist="25400" dir="5400000" algn="bl" rotWithShape="0">
              <a:srgbClr val="000000">
                <a:alpha val="15000"/>
              </a:srgbClr>
            </a:outerShdw>
          </a:effectLst>
        </p:spPr>
      </p:sp>
      <p:sp>
        <p:nvSpPr>
          <p:cNvPr id="4" name="Shape 2"/>
          <p:cNvSpPr/>
          <p:nvPr/>
        </p:nvSpPr>
        <p:spPr>
          <a:xfrm>
            <a:off x="960120" y="1691640"/>
            <a:ext cx="640080" cy="640080"/>
          </a:xfrm>
          <a:prstGeom prst="ellipse">
            <a:avLst/>
          </a:prstGeom>
          <a:solidFill>
            <a:srgbClr val="FFFFFF"/>
          </a:solidFill>
          <a:ln/>
        </p:spPr>
      </p:sp>
      <p:pic>
        <p:nvPicPr>
          <p:cNvPr id="5" name="Image 0" descr="preencoded.png"/>
          <p:cNvPicPr>
            <a:picLocks noChangeAspect="1"/>
          </p:cNvPicPr>
          <p:nvPr/>
        </p:nvPicPr>
        <p:blipFill>
          <a:blip r:embed="rId3"/>
          <a:stretch>
            <a:fillRect/>
          </a:stretch>
        </p:blipFill>
        <p:spPr>
          <a:xfrm>
            <a:off x="1104138" y="1835658"/>
            <a:ext cx="352044" cy="352044"/>
          </a:xfrm>
          <a:prstGeom prst="rect">
            <a:avLst/>
          </a:prstGeom>
        </p:spPr>
      </p:pic>
      <p:sp>
        <p:nvSpPr>
          <p:cNvPr id="6" name="Text 3"/>
          <p:cNvSpPr/>
          <p:nvPr/>
        </p:nvSpPr>
        <p:spPr>
          <a:xfrm>
            <a:off x="1737360" y="1783080"/>
            <a:ext cx="3931920" cy="365760"/>
          </a:xfrm>
          <a:prstGeom prst="rect">
            <a:avLst/>
          </a:prstGeom>
          <a:noFill/>
          <a:ln/>
        </p:spPr>
        <p:txBody>
          <a:bodyPr wrap="square" rtlCol="0" anchor="ctr"/>
          <a:lstStyle/>
          <a:p>
            <a:pPr marL="0" indent="0">
              <a:buNone/>
            </a:pPr>
            <a:r>
              <a:rPr lang="en-US" sz="1400" b="1" dirty="0">
                <a:solidFill>
                  <a:srgbClr val="8FE3D9"/>
                </a:solidFill>
                <a:latin typeface="Calibri" pitchFamily="34" charset="0"/>
                <a:ea typeface="Calibri" pitchFamily="34" charset="-122"/>
                <a:cs typeface="Calibri" pitchFamily="34" charset="-120"/>
              </a:rPr>
              <a:t>Domain: Banking</a:t>
            </a:r>
            <a:endParaRPr lang="en-US" sz="1400" dirty="0"/>
          </a:p>
        </p:txBody>
      </p:sp>
      <p:sp>
        <p:nvSpPr>
          <p:cNvPr id="7" name="Text 4"/>
          <p:cNvSpPr/>
          <p:nvPr/>
        </p:nvSpPr>
        <p:spPr>
          <a:xfrm>
            <a:off x="1737360" y="2057400"/>
            <a:ext cx="3931920" cy="365760"/>
          </a:xfrm>
          <a:prstGeom prst="rect">
            <a:avLst/>
          </a:prstGeom>
          <a:noFill/>
          <a:ln/>
        </p:spPr>
        <p:txBody>
          <a:bodyPr wrap="square" rtlCol="0" anchor="ctr"/>
          <a:lstStyle/>
          <a:p>
            <a:pPr marL="0" indent="0">
              <a:buNone/>
            </a:pPr>
            <a:r>
              <a:rPr lang="en-US" sz="1100" dirty="0">
                <a:solidFill>
                  <a:srgbClr val="AFC4D6"/>
                </a:solidFill>
                <a:latin typeface="Calibri" pitchFamily="34" charset="0"/>
                <a:ea typeface="Calibri" pitchFamily="34" charset="-122"/>
                <a:cs typeface="Calibri" pitchFamily="34" charset="-120"/>
              </a:rPr>
              <a:t>Difficulty: Advanced</a:t>
            </a:r>
            <a:endParaRPr lang="en-US" sz="1100" dirty="0"/>
          </a:p>
        </p:txBody>
      </p:sp>
      <p:sp>
        <p:nvSpPr>
          <p:cNvPr id="8" name="Text 5"/>
          <p:cNvSpPr/>
          <p:nvPr/>
        </p:nvSpPr>
        <p:spPr>
          <a:xfrm>
            <a:off x="960120" y="2606040"/>
            <a:ext cx="4663440" cy="3383280"/>
          </a:xfrm>
          <a:prstGeom prst="rect">
            <a:avLst/>
          </a:prstGeom>
          <a:noFill/>
          <a:ln/>
        </p:spPr>
        <p:txBody>
          <a:bodyPr wrap="square" rtlCol="0" anchor="ctr"/>
          <a:lstStyle/>
          <a:p>
            <a:pPr marL="0" indent="0">
              <a:lnSpc>
                <a:spcPct val="130000"/>
              </a:lnSpc>
              <a:buNone/>
            </a:pPr>
            <a:r>
              <a:rPr lang="en-US" sz="1350" dirty="0">
                <a:solidFill>
                  <a:srgbClr val="FFFFFF"/>
                </a:solidFill>
                <a:latin typeface="Calibri" pitchFamily="34" charset="0"/>
                <a:ea typeface="Calibri" pitchFamily="34" charset="-122"/>
                <a:cs typeface="Calibri" pitchFamily="34" charset="-120"/>
              </a:rPr>
              <a:t>Most people have no easy way to check their credit score, understand what's affecting it, dispute incorrect entries in their report, or know which financial products they qualify for. There is no single, simple platform that combines score tracking, improvement guidance, and dispute resolution in one place.</a:t>
            </a:r>
            <a:endParaRPr lang="en-US" sz="1350" dirty="0"/>
          </a:p>
        </p:txBody>
      </p:sp>
      <p:sp>
        <p:nvSpPr>
          <p:cNvPr id="9" name="Text 6"/>
          <p:cNvSpPr/>
          <p:nvPr/>
        </p:nvSpPr>
        <p:spPr>
          <a:xfrm>
            <a:off x="6263640" y="1417320"/>
            <a:ext cx="5212080" cy="365760"/>
          </a:xfrm>
          <a:prstGeom prst="rect">
            <a:avLst/>
          </a:prstGeom>
          <a:noFill/>
          <a:ln/>
        </p:spPr>
        <p:txBody>
          <a:bodyPr wrap="square" rtlCol="0" anchor="ctr"/>
          <a:lstStyle/>
          <a:p>
            <a:pPr marL="0" indent="0">
              <a:buNone/>
            </a:pPr>
            <a:r>
              <a:rPr lang="en-US" sz="1600" b="1" dirty="0">
                <a:solidFill>
                  <a:srgbClr val="0B2545"/>
                </a:solidFill>
                <a:latin typeface="Cambria" pitchFamily="34" charset="0"/>
                <a:ea typeface="Cambria" pitchFamily="34" charset="-122"/>
                <a:cs typeface="Cambria" pitchFamily="34" charset="-120"/>
              </a:rPr>
              <a:t>Project Objective</a:t>
            </a:r>
            <a:endParaRPr lang="en-US" sz="1600" dirty="0"/>
          </a:p>
        </p:txBody>
      </p:sp>
      <p:sp>
        <p:nvSpPr>
          <p:cNvPr id="10" name="Shape 7"/>
          <p:cNvSpPr/>
          <p:nvPr/>
        </p:nvSpPr>
        <p:spPr>
          <a:xfrm>
            <a:off x="6263640" y="1965960"/>
            <a:ext cx="502920" cy="502920"/>
          </a:xfrm>
          <a:prstGeom prst="ellipse">
            <a:avLst/>
          </a:prstGeom>
          <a:solidFill>
            <a:srgbClr val="8FE3D9"/>
          </a:solidFill>
          <a:ln/>
        </p:spPr>
      </p:sp>
      <p:pic>
        <p:nvPicPr>
          <p:cNvPr id="11" name="Image 1" descr="preencoded.png"/>
          <p:cNvPicPr>
            <a:picLocks noChangeAspect="1"/>
          </p:cNvPicPr>
          <p:nvPr/>
        </p:nvPicPr>
        <p:blipFill>
          <a:blip r:embed="rId4"/>
          <a:stretch>
            <a:fillRect/>
          </a:stretch>
        </p:blipFill>
        <p:spPr>
          <a:xfrm>
            <a:off x="6376797" y="2079117"/>
            <a:ext cx="276606" cy="276606"/>
          </a:xfrm>
          <a:prstGeom prst="rect">
            <a:avLst/>
          </a:prstGeom>
        </p:spPr>
      </p:pic>
      <p:sp>
        <p:nvSpPr>
          <p:cNvPr id="12" name="Text 8"/>
          <p:cNvSpPr/>
          <p:nvPr/>
        </p:nvSpPr>
        <p:spPr>
          <a:xfrm>
            <a:off x="6949440" y="1984248"/>
            <a:ext cx="4572000" cy="502920"/>
          </a:xfrm>
          <a:prstGeom prst="rect">
            <a:avLst/>
          </a:prstGeom>
          <a:noFill/>
          <a:ln/>
        </p:spPr>
        <p:txBody>
          <a:bodyPr wrap="square" rtlCol="0" anchor="ctr"/>
          <a:lstStyle/>
          <a:p>
            <a:pPr marL="0" indent="0">
              <a:buNone/>
            </a:pPr>
            <a:r>
              <a:rPr lang="en-US" sz="1250" dirty="0">
                <a:solidFill>
                  <a:srgbClr val="16243A"/>
                </a:solidFill>
                <a:latin typeface="Calibri" pitchFamily="34" charset="0"/>
                <a:ea typeface="Calibri" pitchFamily="34" charset="-122"/>
                <a:cs typeface="Calibri" pitchFamily="34" charset="-120"/>
              </a:rPr>
              <a:t>Let users check and track their CIBIL score with real-time feedback</a:t>
            </a:r>
            <a:endParaRPr lang="en-US" sz="1250" dirty="0"/>
          </a:p>
        </p:txBody>
      </p:sp>
      <p:sp>
        <p:nvSpPr>
          <p:cNvPr id="13" name="Shape 9"/>
          <p:cNvSpPr/>
          <p:nvPr/>
        </p:nvSpPr>
        <p:spPr>
          <a:xfrm>
            <a:off x="6263640" y="2715768"/>
            <a:ext cx="502920" cy="502920"/>
          </a:xfrm>
          <a:prstGeom prst="ellipse">
            <a:avLst/>
          </a:prstGeom>
          <a:solidFill>
            <a:srgbClr val="8FE3D9"/>
          </a:solidFill>
          <a:ln/>
        </p:spPr>
      </p:sp>
      <p:pic>
        <p:nvPicPr>
          <p:cNvPr id="14" name="Image 2" descr="preencoded.png"/>
          <p:cNvPicPr>
            <a:picLocks noChangeAspect="1"/>
          </p:cNvPicPr>
          <p:nvPr/>
        </p:nvPicPr>
        <p:blipFill>
          <a:blip r:embed="rId5"/>
          <a:stretch>
            <a:fillRect/>
          </a:stretch>
        </p:blipFill>
        <p:spPr>
          <a:xfrm>
            <a:off x="6376797" y="2828925"/>
            <a:ext cx="276606" cy="276606"/>
          </a:xfrm>
          <a:prstGeom prst="rect">
            <a:avLst/>
          </a:prstGeom>
        </p:spPr>
      </p:pic>
      <p:sp>
        <p:nvSpPr>
          <p:cNvPr id="15" name="Text 10"/>
          <p:cNvSpPr/>
          <p:nvPr/>
        </p:nvSpPr>
        <p:spPr>
          <a:xfrm>
            <a:off x="6949440" y="2734056"/>
            <a:ext cx="4572000" cy="502920"/>
          </a:xfrm>
          <a:prstGeom prst="rect">
            <a:avLst/>
          </a:prstGeom>
          <a:noFill/>
          <a:ln/>
        </p:spPr>
        <p:txBody>
          <a:bodyPr wrap="square" rtlCol="0" anchor="ctr"/>
          <a:lstStyle/>
          <a:p>
            <a:pPr marL="0" indent="0">
              <a:buNone/>
            </a:pPr>
            <a:r>
              <a:rPr lang="en-US" sz="1250" dirty="0">
                <a:solidFill>
                  <a:srgbClr val="16243A"/>
                </a:solidFill>
                <a:latin typeface="Calibri" pitchFamily="34" charset="0"/>
                <a:ea typeface="Calibri" pitchFamily="34" charset="-122"/>
                <a:cs typeface="Calibri" pitchFamily="34" charset="-120"/>
              </a:rPr>
              <a:t>Visualize score trends and key contributing factors clearly</a:t>
            </a:r>
            <a:endParaRPr lang="en-US" sz="1250" dirty="0"/>
          </a:p>
        </p:txBody>
      </p:sp>
      <p:sp>
        <p:nvSpPr>
          <p:cNvPr id="16" name="Shape 11"/>
          <p:cNvSpPr/>
          <p:nvPr/>
        </p:nvSpPr>
        <p:spPr>
          <a:xfrm>
            <a:off x="6263640" y="3465576"/>
            <a:ext cx="502920" cy="502920"/>
          </a:xfrm>
          <a:prstGeom prst="ellipse">
            <a:avLst/>
          </a:prstGeom>
          <a:solidFill>
            <a:srgbClr val="8FE3D9"/>
          </a:solidFill>
          <a:ln/>
        </p:spPr>
      </p:sp>
      <p:pic>
        <p:nvPicPr>
          <p:cNvPr id="17" name="Image 3" descr="preencoded.png"/>
          <p:cNvPicPr>
            <a:picLocks noChangeAspect="1"/>
          </p:cNvPicPr>
          <p:nvPr/>
        </p:nvPicPr>
        <p:blipFill>
          <a:blip r:embed="rId6"/>
          <a:stretch>
            <a:fillRect/>
          </a:stretch>
        </p:blipFill>
        <p:spPr>
          <a:xfrm>
            <a:off x="6376797" y="3578733"/>
            <a:ext cx="276606" cy="276606"/>
          </a:xfrm>
          <a:prstGeom prst="rect">
            <a:avLst/>
          </a:prstGeom>
        </p:spPr>
      </p:pic>
      <p:sp>
        <p:nvSpPr>
          <p:cNvPr id="18" name="Text 12"/>
          <p:cNvSpPr/>
          <p:nvPr/>
        </p:nvSpPr>
        <p:spPr>
          <a:xfrm>
            <a:off x="6949440" y="3483864"/>
            <a:ext cx="4572000" cy="502920"/>
          </a:xfrm>
          <a:prstGeom prst="rect">
            <a:avLst/>
          </a:prstGeom>
          <a:noFill/>
          <a:ln/>
        </p:spPr>
        <p:txBody>
          <a:bodyPr wrap="square" rtlCol="0" anchor="ctr"/>
          <a:lstStyle/>
          <a:p>
            <a:pPr marL="0" indent="0">
              <a:buNone/>
            </a:pPr>
            <a:r>
              <a:rPr lang="en-US" sz="1250" dirty="0">
                <a:solidFill>
                  <a:srgbClr val="16243A"/>
                </a:solidFill>
                <a:latin typeface="Calibri" pitchFamily="34" charset="0"/>
                <a:ea typeface="Calibri" pitchFamily="34" charset="-122"/>
                <a:cs typeface="Calibri" pitchFamily="34" charset="-120"/>
              </a:rPr>
              <a:t>Provide a way to dispute incorrect report entries</a:t>
            </a:r>
            <a:endParaRPr lang="en-US" sz="1250" dirty="0"/>
          </a:p>
        </p:txBody>
      </p:sp>
      <p:sp>
        <p:nvSpPr>
          <p:cNvPr id="19" name="Shape 13"/>
          <p:cNvSpPr/>
          <p:nvPr/>
        </p:nvSpPr>
        <p:spPr>
          <a:xfrm>
            <a:off x="6263640" y="4215384"/>
            <a:ext cx="502920" cy="502920"/>
          </a:xfrm>
          <a:prstGeom prst="ellipse">
            <a:avLst/>
          </a:prstGeom>
          <a:solidFill>
            <a:srgbClr val="8FE3D9"/>
          </a:solidFill>
          <a:ln/>
        </p:spPr>
      </p:sp>
      <p:pic>
        <p:nvPicPr>
          <p:cNvPr id="20" name="Image 4" descr="preencoded.png"/>
          <p:cNvPicPr>
            <a:picLocks noChangeAspect="1"/>
          </p:cNvPicPr>
          <p:nvPr/>
        </p:nvPicPr>
        <p:blipFill>
          <a:blip r:embed="rId7"/>
          <a:stretch>
            <a:fillRect/>
          </a:stretch>
        </p:blipFill>
        <p:spPr>
          <a:xfrm>
            <a:off x="6376797" y="4328541"/>
            <a:ext cx="276606" cy="276606"/>
          </a:xfrm>
          <a:prstGeom prst="rect">
            <a:avLst/>
          </a:prstGeom>
        </p:spPr>
      </p:pic>
      <p:sp>
        <p:nvSpPr>
          <p:cNvPr id="21" name="Text 14"/>
          <p:cNvSpPr/>
          <p:nvPr/>
        </p:nvSpPr>
        <p:spPr>
          <a:xfrm>
            <a:off x="6949440" y="4233672"/>
            <a:ext cx="4572000" cy="502920"/>
          </a:xfrm>
          <a:prstGeom prst="rect">
            <a:avLst/>
          </a:prstGeom>
          <a:noFill/>
          <a:ln/>
        </p:spPr>
        <p:txBody>
          <a:bodyPr wrap="square" rtlCol="0" anchor="ctr"/>
          <a:lstStyle/>
          <a:p>
            <a:pPr marL="0" indent="0">
              <a:buNone/>
            </a:pPr>
            <a:r>
              <a:rPr lang="en-US" sz="1250" dirty="0">
                <a:solidFill>
                  <a:srgbClr val="16243A"/>
                </a:solidFill>
                <a:latin typeface="Calibri" pitchFamily="34" charset="0"/>
                <a:ea typeface="Calibri" pitchFamily="34" charset="-122"/>
                <a:cs typeface="Calibri" pitchFamily="34" charset="-120"/>
              </a:rPr>
              <a:t>Offer personalized tips to improve credit health</a:t>
            </a:r>
            <a:endParaRPr lang="en-US" sz="1250" dirty="0"/>
          </a:p>
        </p:txBody>
      </p:sp>
      <p:sp>
        <p:nvSpPr>
          <p:cNvPr id="22"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3" name="Text 16"/>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Technology Stack</a:t>
            </a:r>
            <a:endParaRPr lang="en-US" sz="3000" dirty="0"/>
          </a:p>
        </p:txBody>
      </p:sp>
      <p:sp>
        <p:nvSpPr>
          <p:cNvPr id="3" name="Text 1"/>
          <p:cNvSpPr/>
          <p:nvPr/>
        </p:nvSpPr>
        <p:spPr>
          <a:xfrm>
            <a:off x="640080" y="960120"/>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Tools and technologies used to build this project</a:t>
            </a:r>
            <a:endParaRPr lang="en-US" sz="1300" dirty="0"/>
          </a:p>
        </p:txBody>
      </p:sp>
      <p:sp>
        <p:nvSpPr>
          <p:cNvPr id="4" name="Shape 2"/>
          <p:cNvSpPr/>
          <p:nvPr/>
        </p:nvSpPr>
        <p:spPr>
          <a:xfrm>
            <a:off x="617220" y="1508760"/>
            <a:ext cx="3429000" cy="1920240"/>
          </a:xfrm>
          <a:prstGeom prst="roundRect">
            <a:avLst>
              <a:gd name="adj" fmla="val 3333"/>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891540" y="1783080"/>
            <a:ext cx="594360" cy="59436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25271" y="1916811"/>
            <a:ext cx="326898" cy="326898"/>
          </a:xfrm>
          <a:prstGeom prst="rect">
            <a:avLst/>
          </a:prstGeom>
        </p:spPr>
      </p:pic>
      <p:sp>
        <p:nvSpPr>
          <p:cNvPr id="7" name="Text 4"/>
          <p:cNvSpPr/>
          <p:nvPr/>
        </p:nvSpPr>
        <p:spPr>
          <a:xfrm>
            <a:off x="891540" y="2468880"/>
            <a:ext cx="2880360" cy="32004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React.js</a:t>
            </a:r>
            <a:endParaRPr lang="en-US" sz="1450" dirty="0"/>
          </a:p>
        </p:txBody>
      </p:sp>
      <p:sp>
        <p:nvSpPr>
          <p:cNvPr id="8" name="Text 5"/>
          <p:cNvSpPr/>
          <p:nvPr/>
        </p:nvSpPr>
        <p:spPr>
          <a:xfrm>
            <a:off x="891540" y="2788920"/>
            <a:ext cx="2880360" cy="548640"/>
          </a:xfrm>
          <a:prstGeom prst="rect">
            <a:avLst/>
          </a:prstGeom>
          <a:noFill/>
          <a:ln/>
        </p:spPr>
        <p:txBody>
          <a:bodyPr wrap="square" rtlCol="0" anchor="ctr"/>
          <a:lstStyle/>
          <a:p>
            <a:pPr marL="0" indent="0">
              <a:lnSpc>
                <a:spcPct val="110000"/>
              </a:lnSpc>
              <a:buNone/>
            </a:pPr>
            <a:r>
              <a:rPr lang="en-US" sz="1050" dirty="0">
                <a:solidFill>
                  <a:srgbClr val="5C7080"/>
                </a:solidFill>
                <a:latin typeface="Calibri" pitchFamily="34" charset="0"/>
                <a:ea typeface="Calibri" pitchFamily="34" charset="-122"/>
                <a:cs typeface="Calibri" pitchFamily="34" charset="-120"/>
              </a:rPr>
              <a:t>Component-based UI library for building the entire frontend</a:t>
            </a:r>
            <a:endParaRPr lang="en-US" sz="1050" dirty="0"/>
          </a:p>
        </p:txBody>
      </p:sp>
      <p:sp>
        <p:nvSpPr>
          <p:cNvPr id="9" name="Shape 6"/>
          <p:cNvSpPr/>
          <p:nvPr/>
        </p:nvSpPr>
        <p:spPr>
          <a:xfrm>
            <a:off x="4366260" y="1508760"/>
            <a:ext cx="3429000" cy="1920240"/>
          </a:xfrm>
          <a:prstGeom prst="roundRect">
            <a:avLst>
              <a:gd name="adj" fmla="val 3333"/>
            </a:avLst>
          </a:prstGeom>
          <a:solidFill>
            <a:srgbClr val="FFFFFF"/>
          </a:solidFill>
          <a:ln/>
          <a:effectLst>
            <a:outerShdw blurRad="101600" dist="25400" dir="5400000" algn="bl" rotWithShape="0">
              <a:srgbClr val="000000">
                <a:alpha val="12000"/>
              </a:srgbClr>
            </a:outerShdw>
          </a:effectLst>
        </p:spPr>
      </p:sp>
      <p:sp>
        <p:nvSpPr>
          <p:cNvPr id="10" name="Shape 7"/>
          <p:cNvSpPr/>
          <p:nvPr/>
        </p:nvSpPr>
        <p:spPr>
          <a:xfrm>
            <a:off x="4640580" y="1783080"/>
            <a:ext cx="594360" cy="594360"/>
          </a:xfrm>
          <a:prstGeom prst="ellipse">
            <a:avLst/>
          </a:prstGeom>
          <a:solidFill>
            <a:srgbClr val="E6F5F3"/>
          </a:solidFill>
          <a:ln/>
        </p:spPr>
      </p:sp>
      <p:pic>
        <p:nvPicPr>
          <p:cNvPr id="11" name="Image 1" descr="preencoded.png"/>
          <p:cNvPicPr>
            <a:picLocks noChangeAspect="1"/>
          </p:cNvPicPr>
          <p:nvPr/>
        </p:nvPicPr>
        <p:blipFill>
          <a:blip r:embed="rId4"/>
          <a:stretch>
            <a:fillRect/>
          </a:stretch>
        </p:blipFill>
        <p:spPr>
          <a:xfrm>
            <a:off x="4774311" y="1916811"/>
            <a:ext cx="326898" cy="326898"/>
          </a:xfrm>
          <a:prstGeom prst="rect">
            <a:avLst/>
          </a:prstGeom>
        </p:spPr>
      </p:pic>
      <p:sp>
        <p:nvSpPr>
          <p:cNvPr id="12" name="Text 8"/>
          <p:cNvSpPr/>
          <p:nvPr/>
        </p:nvSpPr>
        <p:spPr>
          <a:xfrm>
            <a:off x="4640580" y="2468880"/>
            <a:ext cx="2880360" cy="32004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React Router DOM</a:t>
            </a:r>
            <a:endParaRPr lang="en-US" sz="1450" dirty="0"/>
          </a:p>
        </p:txBody>
      </p:sp>
      <p:sp>
        <p:nvSpPr>
          <p:cNvPr id="13" name="Text 9"/>
          <p:cNvSpPr/>
          <p:nvPr/>
        </p:nvSpPr>
        <p:spPr>
          <a:xfrm>
            <a:off x="4640580" y="2788920"/>
            <a:ext cx="2880360" cy="548640"/>
          </a:xfrm>
          <a:prstGeom prst="rect">
            <a:avLst/>
          </a:prstGeom>
          <a:noFill/>
          <a:ln/>
        </p:spPr>
        <p:txBody>
          <a:bodyPr wrap="square" rtlCol="0" anchor="ctr"/>
          <a:lstStyle/>
          <a:p>
            <a:pPr marL="0" indent="0">
              <a:lnSpc>
                <a:spcPct val="110000"/>
              </a:lnSpc>
              <a:buNone/>
            </a:pPr>
            <a:r>
              <a:rPr lang="en-US" sz="1050" dirty="0">
                <a:solidFill>
                  <a:srgbClr val="5C7080"/>
                </a:solidFill>
                <a:latin typeface="Calibri" pitchFamily="34" charset="0"/>
                <a:ea typeface="Calibri" pitchFamily="34" charset="-122"/>
                <a:cs typeface="Calibri" pitchFamily="34" charset="-120"/>
              </a:rPr>
              <a:t>Client-side routing with protected routes between pages</a:t>
            </a:r>
            <a:endParaRPr lang="en-US" sz="1050" dirty="0"/>
          </a:p>
        </p:txBody>
      </p:sp>
      <p:sp>
        <p:nvSpPr>
          <p:cNvPr id="14" name="Shape 10"/>
          <p:cNvSpPr/>
          <p:nvPr/>
        </p:nvSpPr>
        <p:spPr>
          <a:xfrm>
            <a:off x="8115300" y="1508760"/>
            <a:ext cx="3429000" cy="1920240"/>
          </a:xfrm>
          <a:prstGeom prst="roundRect">
            <a:avLst>
              <a:gd name="adj" fmla="val 3333"/>
            </a:avLst>
          </a:prstGeom>
          <a:solidFill>
            <a:srgbClr val="FFFFFF"/>
          </a:solidFill>
          <a:ln/>
          <a:effectLst>
            <a:outerShdw blurRad="101600" dist="25400" dir="5400000" algn="bl" rotWithShape="0">
              <a:srgbClr val="000000">
                <a:alpha val="12000"/>
              </a:srgbClr>
            </a:outerShdw>
          </a:effectLst>
        </p:spPr>
      </p:sp>
      <p:sp>
        <p:nvSpPr>
          <p:cNvPr id="15" name="Shape 11"/>
          <p:cNvSpPr/>
          <p:nvPr/>
        </p:nvSpPr>
        <p:spPr>
          <a:xfrm>
            <a:off x="8389620" y="1783080"/>
            <a:ext cx="594360" cy="594360"/>
          </a:xfrm>
          <a:prstGeom prst="ellipse">
            <a:avLst/>
          </a:prstGeom>
          <a:solidFill>
            <a:srgbClr val="E6F5F3"/>
          </a:solidFill>
          <a:ln/>
        </p:spPr>
      </p:sp>
      <p:pic>
        <p:nvPicPr>
          <p:cNvPr id="16" name="Image 2" descr="preencoded.png"/>
          <p:cNvPicPr>
            <a:picLocks noChangeAspect="1"/>
          </p:cNvPicPr>
          <p:nvPr/>
        </p:nvPicPr>
        <p:blipFill>
          <a:blip r:embed="rId5"/>
          <a:stretch>
            <a:fillRect/>
          </a:stretch>
        </p:blipFill>
        <p:spPr>
          <a:xfrm>
            <a:off x="8523351" y="1916811"/>
            <a:ext cx="326898" cy="326898"/>
          </a:xfrm>
          <a:prstGeom prst="rect">
            <a:avLst/>
          </a:prstGeom>
        </p:spPr>
      </p:pic>
      <p:sp>
        <p:nvSpPr>
          <p:cNvPr id="17" name="Text 12"/>
          <p:cNvSpPr/>
          <p:nvPr/>
        </p:nvSpPr>
        <p:spPr>
          <a:xfrm>
            <a:off x="8389620" y="2468880"/>
            <a:ext cx="2880360" cy="32004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Context API</a:t>
            </a:r>
            <a:endParaRPr lang="en-US" sz="1450" dirty="0"/>
          </a:p>
        </p:txBody>
      </p:sp>
      <p:sp>
        <p:nvSpPr>
          <p:cNvPr id="18" name="Text 13"/>
          <p:cNvSpPr/>
          <p:nvPr/>
        </p:nvSpPr>
        <p:spPr>
          <a:xfrm>
            <a:off x="8389620" y="2788920"/>
            <a:ext cx="2880360" cy="548640"/>
          </a:xfrm>
          <a:prstGeom prst="rect">
            <a:avLst/>
          </a:prstGeom>
          <a:noFill/>
          <a:ln/>
        </p:spPr>
        <p:txBody>
          <a:bodyPr wrap="square" rtlCol="0" anchor="ctr"/>
          <a:lstStyle/>
          <a:p>
            <a:pPr marL="0" indent="0">
              <a:lnSpc>
                <a:spcPct val="110000"/>
              </a:lnSpc>
              <a:buNone/>
            </a:pPr>
            <a:r>
              <a:rPr lang="en-US" sz="1050" dirty="0">
                <a:solidFill>
                  <a:srgbClr val="5C7080"/>
                </a:solidFill>
                <a:latin typeface="Calibri" pitchFamily="34" charset="0"/>
                <a:ea typeface="Calibri" pitchFamily="34" charset="-122"/>
                <a:cs typeface="Calibri" pitchFamily="34" charset="-120"/>
              </a:rPr>
              <a:t>Global state management for user, scores, and disputes</a:t>
            </a:r>
            <a:endParaRPr lang="en-US" sz="1050" dirty="0"/>
          </a:p>
        </p:txBody>
      </p:sp>
      <p:sp>
        <p:nvSpPr>
          <p:cNvPr id="19" name="Shape 14"/>
          <p:cNvSpPr/>
          <p:nvPr/>
        </p:nvSpPr>
        <p:spPr>
          <a:xfrm>
            <a:off x="617220" y="3749040"/>
            <a:ext cx="3429000" cy="1920240"/>
          </a:xfrm>
          <a:prstGeom prst="roundRect">
            <a:avLst>
              <a:gd name="adj" fmla="val 3333"/>
            </a:avLst>
          </a:prstGeom>
          <a:solidFill>
            <a:srgbClr val="FFFFFF"/>
          </a:solidFill>
          <a:ln/>
          <a:effectLst>
            <a:outerShdw blurRad="101600" dist="25400" dir="5400000" algn="bl" rotWithShape="0">
              <a:srgbClr val="000000">
                <a:alpha val="12000"/>
              </a:srgbClr>
            </a:outerShdw>
          </a:effectLst>
        </p:spPr>
      </p:sp>
      <p:sp>
        <p:nvSpPr>
          <p:cNvPr id="20" name="Shape 15"/>
          <p:cNvSpPr/>
          <p:nvPr/>
        </p:nvSpPr>
        <p:spPr>
          <a:xfrm>
            <a:off x="891540" y="4023360"/>
            <a:ext cx="594360" cy="594360"/>
          </a:xfrm>
          <a:prstGeom prst="ellipse">
            <a:avLst/>
          </a:prstGeom>
          <a:solidFill>
            <a:srgbClr val="E6F5F3"/>
          </a:solidFill>
          <a:ln/>
        </p:spPr>
      </p:sp>
      <p:pic>
        <p:nvPicPr>
          <p:cNvPr id="21" name="Image 3" descr="preencoded.png"/>
          <p:cNvPicPr>
            <a:picLocks noChangeAspect="1"/>
          </p:cNvPicPr>
          <p:nvPr/>
        </p:nvPicPr>
        <p:blipFill>
          <a:blip r:embed="rId6"/>
          <a:stretch>
            <a:fillRect/>
          </a:stretch>
        </p:blipFill>
        <p:spPr>
          <a:xfrm>
            <a:off x="1025271" y="4157091"/>
            <a:ext cx="326898" cy="326898"/>
          </a:xfrm>
          <a:prstGeom prst="rect">
            <a:avLst/>
          </a:prstGeom>
        </p:spPr>
      </p:pic>
      <p:sp>
        <p:nvSpPr>
          <p:cNvPr id="22" name="Text 16"/>
          <p:cNvSpPr/>
          <p:nvPr/>
        </p:nvSpPr>
        <p:spPr>
          <a:xfrm>
            <a:off x="891540" y="4709160"/>
            <a:ext cx="2880360" cy="32004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JavaScript (ES6+)</a:t>
            </a:r>
            <a:endParaRPr lang="en-US" sz="1450" dirty="0"/>
          </a:p>
        </p:txBody>
      </p:sp>
      <p:sp>
        <p:nvSpPr>
          <p:cNvPr id="23" name="Text 17"/>
          <p:cNvSpPr/>
          <p:nvPr/>
        </p:nvSpPr>
        <p:spPr>
          <a:xfrm>
            <a:off x="891540" y="5029200"/>
            <a:ext cx="2880360" cy="548640"/>
          </a:xfrm>
          <a:prstGeom prst="rect">
            <a:avLst/>
          </a:prstGeom>
          <a:noFill/>
          <a:ln/>
        </p:spPr>
        <p:txBody>
          <a:bodyPr wrap="square" rtlCol="0" anchor="ctr"/>
          <a:lstStyle/>
          <a:p>
            <a:pPr marL="0" indent="0">
              <a:lnSpc>
                <a:spcPct val="110000"/>
              </a:lnSpc>
              <a:buNone/>
            </a:pPr>
            <a:r>
              <a:rPr lang="en-US" sz="1050" dirty="0">
                <a:solidFill>
                  <a:srgbClr val="5C7080"/>
                </a:solidFill>
                <a:latin typeface="Calibri" pitchFamily="34" charset="0"/>
                <a:ea typeface="Calibri" pitchFamily="34" charset="-122"/>
                <a:cs typeface="Calibri" pitchFamily="34" charset="-120"/>
              </a:rPr>
              <a:t>Hooks, async functions, array methods, modules</a:t>
            </a:r>
            <a:endParaRPr lang="en-US" sz="1050" dirty="0"/>
          </a:p>
        </p:txBody>
      </p:sp>
      <p:sp>
        <p:nvSpPr>
          <p:cNvPr id="24" name="Shape 18"/>
          <p:cNvSpPr/>
          <p:nvPr/>
        </p:nvSpPr>
        <p:spPr>
          <a:xfrm>
            <a:off x="4366260" y="3749040"/>
            <a:ext cx="3429000" cy="1920240"/>
          </a:xfrm>
          <a:prstGeom prst="roundRect">
            <a:avLst>
              <a:gd name="adj" fmla="val 3333"/>
            </a:avLst>
          </a:prstGeom>
          <a:solidFill>
            <a:srgbClr val="FFFFFF"/>
          </a:solidFill>
          <a:ln/>
          <a:effectLst>
            <a:outerShdw blurRad="101600" dist="25400" dir="5400000" algn="bl" rotWithShape="0">
              <a:srgbClr val="000000">
                <a:alpha val="12000"/>
              </a:srgbClr>
            </a:outerShdw>
          </a:effectLst>
        </p:spPr>
      </p:sp>
      <p:sp>
        <p:nvSpPr>
          <p:cNvPr id="25" name="Shape 19"/>
          <p:cNvSpPr/>
          <p:nvPr/>
        </p:nvSpPr>
        <p:spPr>
          <a:xfrm>
            <a:off x="4640580" y="4023360"/>
            <a:ext cx="594360" cy="594360"/>
          </a:xfrm>
          <a:prstGeom prst="ellipse">
            <a:avLst/>
          </a:prstGeom>
          <a:solidFill>
            <a:srgbClr val="E6F5F3"/>
          </a:solidFill>
          <a:ln/>
        </p:spPr>
      </p:sp>
      <p:pic>
        <p:nvPicPr>
          <p:cNvPr id="26" name="Image 4" descr="preencoded.png"/>
          <p:cNvPicPr>
            <a:picLocks noChangeAspect="1"/>
          </p:cNvPicPr>
          <p:nvPr/>
        </p:nvPicPr>
        <p:blipFill>
          <a:blip r:embed="rId7"/>
          <a:stretch>
            <a:fillRect/>
          </a:stretch>
        </p:blipFill>
        <p:spPr>
          <a:xfrm>
            <a:off x="4774311" y="4157091"/>
            <a:ext cx="326898" cy="326898"/>
          </a:xfrm>
          <a:prstGeom prst="rect">
            <a:avLst/>
          </a:prstGeom>
        </p:spPr>
      </p:pic>
      <p:sp>
        <p:nvSpPr>
          <p:cNvPr id="27" name="Text 20"/>
          <p:cNvSpPr/>
          <p:nvPr/>
        </p:nvSpPr>
        <p:spPr>
          <a:xfrm>
            <a:off x="4640580" y="4709160"/>
            <a:ext cx="2880360" cy="32004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Plain CSS3</a:t>
            </a:r>
            <a:endParaRPr lang="en-US" sz="1450" dirty="0"/>
          </a:p>
        </p:txBody>
      </p:sp>
      <p:sp>
        <p:nvSpPr>
          <p:cNvPr id="28" name="Text 21"/>
          <p:cNvSpPr/>
          <p:nvPr/>
        </p:nvSpPr>
        <p:spPr>
          <a:xfrm>
            <a:off x="4640580" y="5029200"/>
            <a:ext cx="2880360" cy="548640"/>
          </a:xfrm>
          <a:prstGeom prst="rect">
            <a:avLst/>
          </a:prstGeom>
          <a:noFill/>
          <a:ln/>
        </p:spPr>
        <p:txBody>
          <a:bodyPr wrap="square" rtlCol="0" anchor="ctr"/>
          <a:lstStyle/>
          <a:p>
            <a:pPr marL="0" indent="0">
              <a:lnSpc>
                <a:spcPct val="110000"/>
              </a:lnSpc>
              <a:buNone/>
            </a:pPr>
            <a:r>
              <a:rPr lang="en-US" sz="1050" dirty="0">
                <a:solidFill>
                  <a:srgbClr val="5C7080"/>
                </a:solidFill>
                <a:latin typeface="Calibri" pitchFamily="34" charset="0"/>
                <a:ea typeface="Calibri" pitchFamily="34" charset="-122"/>
                <a:cs typeface="Calibri" pitchFamily="34" charset="-120"/>
              </a:rPr>
              <a:t>Custom styling without external UI frameworks</a:t>
            </a:r>
            <a:endParaRPr lang="en-US" sz="1050" dirty="0"/>
          </a:p>
        </p:txBody>
      </p:sp>
      <p:sp>
        <p:nvSpPr>
          <p:cNvPr id="29" name="Shape 22"/>
          <p:cNvSpPr/>
          <p:nvPr/>
        </p:nvSpPr>
        <p:spPr>
          <a:xfrm>
            <a:off x="8115300" y="3749040"/>
            <a:ext cx="3429000" cy="1920240"/>
          </a:xfrm>
          <a:prstGeom prst="roundRect">
            <a:avLst>
              <a:gd name="adj" fmla="val 3333"/>
            </a:avLst>
          </a:prstGeom>
          <a:solidFill>
            <a:srgbClr val="FFFFFF"/>
          </a:solidFill>
          <a:ln/>
          <a:effectLst>
            <a:outerShdw blurRad="101600" dist="25400" dir="5400000" algn="bl" rotWithShape="0">
              <a:srgbClr val="000000">
                <a:alpha val="12000"/>
              </a:srgbClr>
            </a:outerShdw>
          </a:effectLst>
        </p:spPr>
      </p:sp>
      <p:sp>
        <p:nvSpPr>
          <p:cNvPr id="30" name="Shape 23"/>
          <p:cNvSpPr/>
          <p:nvPr/>
        </p:nvSpPr>
        <p:spPr>
          <a:xfrm>
            <a:off x="8389620" y="4023360"/>
            <a:ext cx="594360" cy="594360"/>
          </a:xfrm>
          <a:prstGeom prst="ellipse">
            <a:avLst/>
          </a:prstGeom>
          <a:solidFill>
            <a:srgbClr val="E6F5F3"/>
          </a:solidFill>
          <a:ln/>
        </p:spPr>
      </p:sp>
      <p:pic>
        <p:nvPicPr>
          <p:cNvPr id="31" name="Image 5" descr="preencoded.png"/>
          <p:cNvPicPr>
            <a:picLocks noChangeAspect="1"/>
          </p:cNvPicPr>
          <p:nvPr/>
        </p:nvPicPr>
        <p:blipFill>
          <a:blip r:embed="rId8"/>
          <a:stretch>
            <a:fillRect/>
          </a:stretch>
        </p:blipFill>
        <p:spPr>
          <a:xfrm>
            <a:off x="8523351" y="4157091"/>
            <a:ext cx="326898" cy="326898"/>
          </a:xfrm>
          <a:prstGeom prst="rect">
            <a:avLst/>
          </a:prstGeom>
        </p:spPr>
      </p:pic>
      <p:sp>
        <p:nvSpPr>
          <p:cNvPr id="32" name="Text 24"/>
          <p:cNvSpPr/>
          <p:nvPr/>
        </p:nvSpPr>
        <p:spPr>
          <a:xfrm>
            <a:off x="8389620" y="4709160"/>
            <a:ext cx="2880360" cy="32004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Vite + npm</a:t>
            </a:r>
            <a:endParaRPr lang="en-US" sz="1450" dirty="0"/>
          </a:p>
        </p:txBody>
      </p:sp>
      <p:sp>
        <p:nvSpPr>
          <p:cNvPr id="33" name="Text 25"/>
          <p:cNvSpPr/>
          <p:nvPr/>
        </p:nvSpPr>
        <p:spPr>
          <a:xfrm>
            <a:off x="8389620" y="5029200"/>
            <a:ext cx="2880360" cy="548640"/>
          </a:xfrm>
          <a:prstGeom prst="rect">
            <a:avLst/>
          </a:prstGeom>
          <a:noFill/>
          <a:ln/>
        </p:spPr>
        <p:txBody>
          <a:bodyPr wrap="square" rtlCol="0" anchor="ctr"/>
          <a:lstStyle/>
          <a:p>
            <a:pPr marL="0" indent="0">
              <a:lnSpc>
                <a:spcPct val="110000"/>
              </a:lnSpc>
              <a:buNone/>
            </a:pPr>
            <a:r>
              <a:rPr lang="en-US" sz="1050" dirty="0">
                <a:solidFill>
                  <a:srgbClr val="5C7080"/>
                </a:solidFill>
                <a:latin typeface="Calibri" pitchFamily="34" charset="0"/>
                <a:ea typeface="Calibri" pitchFamily="34" charset="-122"/>
                <a:cs typeface="Calibri" pitchFamily="34" charset="-120"/>
              </a:rPr>
              <a:t>Fast build tooling and dependency management</a:t>
            </a:r>
            <a:endParaRPr lang="en-US" sz="1050" dirty="0"/>
          </a:p>
        </p:txBody>
      </p:sp>
      <p:sp>
        <p:nvSpPr>
          <p:cNvPr id="34" name="Text 26"/>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35" name="Text 27"/>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Course Outcomes (COs) Covered</a:t>
            </a:r>
            <a:endParaRPr lang="en-US" sz="2800" dirty="0"/>
          </a:p>
        </p:txBody>
      </p:sp>
      <p:sp>
        <p:nvSpPr>
          <p:cNvPr id="3" name="Text 1"/>
          <p:cNvSpPr/>
          <p:nvPr/>
        </p:nvSpPr>
        <p:spPr>
          <a:xfrm>
            <a:off x="640080" y="896112"/>
            <a:ext cx="9144000" cy="320040"/>
          </a:xfrm>
          <a:prstGeom prst="rect">
            <a:avLst/>
          </a:prstGeom>
          <a:noFill/>
          <a:ln/>
        </p:spPr>
        <p:txBody>
          <a:bodyPr wrap="square" rtlCol="0" anchor="ctr"/>
          <a:lstStyle/>
          <a:p>
            <a:pPr marL="0" indent="0">
              <a:buNone/>
            </a:pPr>
            <a:r>
              <a:rPr lang="en-US" sz="1250" i="1" dirty="0">
                <a:solidFill>
                  <a:srgbClr val="5C7080"/>
                </a:solidFill>
                <a:latin typeface="Calibri" pitchFamily="34" charset="0"/>
                <a:ea typeface="Calibri" pitchFamily="34" charset="-122"/>
                <a:cs typeface="Calibri" pitchFamily="34" charset="-120"/>
              </a:rPr>
              <a:t>How this project maps to all six Course Outcomes from the FEDF handout</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881360" cy="5010912"/>
        </p:xfrm>
        <a:graphic>
          <a:graphicData uri="http://schemas.openxmlformats.org/drawingml/2006/table">
            <a:tbl>
              <a:tblPr/>
              <a:tblGrid>
                <a:gridCol w="9144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457200">
                <a:tc>
                  <a:txBody>
                    <a:bodyPr/>
                    <a:lstStyle/>
                    <a:p>
                      <a:pPr marL="0" indent="0" algn="ctr">
                        <a:buNone/>
                      </a:pPr>
                      <a:r>
                        <a:rPr lang="en-US" sz="1200" b="1" dirty="0">
                          <a:solidFill>
                            <a:srgbClr val="FFFFFF"/>
                          </a:solidFill>
                        </a:rPr>
                        <a:t>CO</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Focus Area</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rPr>
                        <a:t>How it's applied in this project</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758952">
                <a:tc>
                  <a:txBody>
                    <a:bodyPr/>
                    <a:lstStyle/>
                    <a:p>
                      <a:pPr marL="0" indent="0" algn="ctr">
                        <a:buNone/>
                      </a:pPr>
                      <a:r>
                        <a:rPr lang="en-US" sz="1200" b="1" dirty="0">
                          <a:solidFill>
                            <a:srgbClr val="0C7C73"/>
                          </a:solidFill>
                        </a:rPr>
                        <a:t>CO1</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b="1" dirty="0">
                          <a:solidFill>
                            <a:srgbClr val="16243A"/>
                          </a:solidFill>
                        </a:rPr>
                        <a:t>Front-End Architecture &amp; Component Thinking</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050" dirty="0">
                          <a:solidFill>
                            <a:srgbClr val="5C7080"/>
                          </a:solidFill>
                        </a:rPr>
                        <a:t>Component-driven structure: Navbar, pages, and reusable cards built as deterministic UI functions.</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58952">
                <a:tc>
                  <a:txBody>
                    <a:bodyPr/>
                    <a:lstStyle/>
                    <a:p>
                      <a:pPr marL="0" indent="0" algn="ctr">
                        <a:buNone/>
                      </a:pPr>
                      <a:r>
                        <a:rPr lang="en-US" sz="1200" b="1" dirty="0">
                          <a:solidFill>
                            <a:srgbClr val="0C7C73"/>
                          </a:solidFill>
                        </a:rPr>
                        <a:t>CO2</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b="1" dirty="0">
                          <a:solidFill>
                            <a:srgbClr val="16243A"/>
                          </a:solidFill>
                        </a:rPr>
                        <a:t>JavaScript Engineering</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050" dirty="0">
                          <a:solidFill>
                            <a:srgbClr val="5C7080"/>
                          </a:solidFill>
                        </a:rPr>
                        <a:t>ES6+ features, array methods (.map/.filter), async date logic, and modular file organization across context/components/pages.</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2"/>
                  </a:ext>
                </a:extLst>
              </a:tr>
              <a:tr h="758952">
                <a:tc>
                  <a:txBody>
                    <a:bodyPr/>
                    <a:lstStyle/>
                    <a:p>
                      <a:pPr marL="0" indent="0" algn="ctr">
                        <a:buNone/>
                      </a:pPr>
                      <a:r>
                        <a:rPr lang="en-US" sz="1200" b="1" dirty="0">
                          <a:solidFill>
                            <a:srgbClr val="0C7C73"/>
                          </a:solidFill>
                        </a:rPr>
                        <a:t>CO3</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b="1" dirty="0">
                          <a:solidFill>
                            <a:srgbClr val="16243A"/>
                          </a:solidFill>
                        </a:rPr>
                        <a:t>React Component Model</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050" dirty="0">
                          <a:solidFill>
                            <a:srgbClr val="5C7080"/>
                          </a:solidFill>
                        </a:rPr>
                        <a:t>useState, controlled form inputs, conditional rendering, and component composition across all 10 modules.</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58952">
                <a:tc>
                  <a:txBody>
                    <a:bodyPr/>
                    <a:lstStyle/>
                    <a:p>
                      <a:pPr marL="0" indent="0" algn="ctr">
                        <a:buNone/>
                      </a:pPr>
                      <a:r>
                        <a:rPr lang="en-US" sz="1200" b="1" dirty="0">
                          <a:solidFill>
                            <a:srgbClr val="0C7C73"/>
                          </a:solidFill>
                        </a:rPr>
                        <a:t>CO4</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b="1" dirty="0">
                          <a:solidFill>
                            <a:srgbClr val="16243A"/>
                          </a:solidFill>
                        </a:rPr>
                        <a:t>State Architecture &amp; Data Flow</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050" dirty="0">
                          <a:solidFill>
                            <a:srgbClr val="5C7080"/>
                          </a:solidFill>
                        </a:rPr>
                        <a:t>Context API for global state (user, scores, disputes, notifications); state lifted to App.jsx and shared app-wide.</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4"/>
                  </a:ext>
                </a:extLst>
              </a:tr>
              <a:tr h="758952">
                <a:tc>
                  <a:txBody>
                    <a:bodyPr/>
                    <a:lstStyle/>
                    <a:p>
                      <a:pPr marL="0" indent="0" algn="ctr">
                        <a:buNone/>
                      </a:pPr>
                      <a:r>
                        <a:rPr lang="en-US" sz="1200" b="1" dirty="0">
                          <a:solidFill>
                            <a:srgbClr val="0C7C73"/>
                          </a:solidFill>
                        </a:rPr>
                        <a:t>CO5</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b="1" dirty="0">
                          <a:solidFill>
                            <a:srgbClr val="16243A"/>
                          </a:solidFill>
                        </a:rPr>
                        <a:t>Routing, Forms &amp; Accessibility</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050" dirty="0">
                          <a:solidFill>
                            <a:srgbClr val="5C7080"/>
                          </a:solidFill>
                        </a:rPr>
                        <a:t>React Router with protected routes, form validation pipelines (login, signup, dispute, check-score).</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58952">
                <a:tc>
                  <a:txBody>
                    <a:bodyPr/>
                    <a:lstStyle/>
                    <a:p>
                      <a:pPr marL="0" indent="0" algn="ctr">
                        <a:buNone/>
                      </a:pPr>
                      <a:r>
                        <a:rPr lang="en-US" sz="1200" b="1" dirty="0">
                          <a:solidFill>
                            <a:srgbClr val="0C7C73"/>
                          </a:solidFill>
                        </a:rPr>
                        <a:t>CO6</a:t>
                      </a:r>
                      <a:endParaRPr lang="en-US" sz="12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b="1" dirty="0">
                          <a:solidFill>
                            <a:srgbClr val="16243A"/>
                          </a:solidFill>
                        </a:rPr>
                        <a:t>Build &amp; Deployment Engineering</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050" dirty="0">
                          <a:solidFill>
                            <a:srgbClr val="5C7080"/>
                          </a:solidFill>
                        </a:rPr>
                        <a:t>Vite as build tool, npm dependency management, GitHub version control, ready for Vercel/Netlify deployment.</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4" name="Text 3"/>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Functional Modules</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10 modules implemented — Part 1 of 3</a:t>
            </a:r>
            <a:endParaRPr lang="en-US" sz="1300" dirty="0"/>
          </a:p>
        </p:txBody>
      </p:sp>
      <p:sp>
        <p:nvSpPr>
          <p:cNvPr id="4" name="Shape 2"/>
          <p:cNvSpPr/>
          <p:nvPr/>
        </p:nvSpPr>
        <p:spPr>
          <a:xfrm>
            <a:off x="640080" y="1600200"/>
            <a:ext cx="10881360" cy="987552"/>
          </a:xfrm>
          <a:prstGeom prst="roundRect">
            <a:avLst>
              <a:gd name="adj" fmla="val 5556"/>
            </a:avLst>
          </a:prstGeom>
          <a:solidFill>
            <a:srgbClr val="FFFFFF"/>
          </a:solidFill>
          <a:ln/>
          <a:effectLst>
            <a:outerShdw blurRad="76200" dist="12700" dir="5400000" algn="bl" rotWithShape="0">
              <a:srgbClr val="000000">
                <a:alpha val="8000"/>
              </a:srgbClr>
            </a:outerShdw>
          </a:effectLst>
        </p:spPr>
      </p:sp>
      <p:sp>
        <p:nvSpPr>
          <p:cNvPr id="5" name="Shape 3"/>
          <p:cNvSpPr/>
          <p:nvPr/>
        </p:nvSpPr>
        <p:spPr>
          <a:xfrm>
            <a:off x="896112" y="1837944"/>
            <a:ext cx="530352" cy="530352"/>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15441" y="1957273"/>
            <a:ext cx="291694" cy="291694"/>
          </a:xfrm>
          <a:prstGeom prst="rect">
            <a:avLst/>
          </a:prstGeom>
        </p:spPr>
      </p:pic>
      <p:sp>
        <p:nvSpPr>
          <p:cNvPr id="7" name="Text 4"/>
          <p:cNvSpPr/>
          <p:nvPr/>
        </p:nvSpPr>
        <p:spPr>
          <a:xfrm>
            <a:off x="1664208" y="1691640"/>
            <a:ext cx="2743200" cy="80467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1. Score Display</a:t>
            </a:r>
            <a:endParaRPr lang="en-US" sz="1400" dirty="0"/>
          </a:p>
        </p:txBody>
      </p:sp>
      <p:sp>
        <p:nvSpPr>
          <p:cNvPr id="8" name="Text 5"/>
          <p:cNvSpPr/>
          <p:nvPr/>
        </p:nvSpPr>
        <p:spPr>
          <a:xfrm>
            <a:off x="4526280" y="1691640"/>
            <a:ext cx="6812280" cy="804672"/>
          </a:xfrm>
          <a:prstGeom prst="rect">
            <a:avLst/>
          </a:prstGeom>
          <a:noFill/>
          <a:ln/>
        </p:spPr>
        <p:txBody>
          <a:bodyPr wrap="square"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Dashboard shows current CIBIL score with a colored ring (Excellent/Good/Average/Poor) and last updated date.</a:t>
            </a:r>
            <a:endParaRPr lang="en-US" sz="1150" dirty="0"/>
          </a:p>
        </p:txBody>
      </p:sp>
      <p:sp>
        <p:nvSpPr>
          <p:cNvPr id="9" name="Shape 6"/>
          <p:cNvSpPr/>
          <p:nvPr/>
        </p:nvSpPr>
        <p:spPr>
          <a:xfrm>
            <a:off x="640080" y="2734056"/>
            <a:ext cx="10881360" cy="987552"/>
          </a:xfrm>
          <a:prstGeom prst="roundRect">
            <a:avLst>
              <a:gd name="adj" fmla="val 5556"/>
            </a:avLst>
          </a:prstGeom>
          <a:solidFill>
            <a:srgbClr val="FFFFFF"/>
          </a:solidFill>
          <a:ln/>
          <a:effectLst>
            <a:outerShdw blurRad="76200" dist="12700" dir="5400000" algn="bl" rotWithShape="0">
              <a:srgbClr val="000000">
                <a:alpha val="8000"/>
              </a:srgbClr>
            </a:outerShdw>
          </a:effectLst>
        </p:spPr>
      </p:sp>
      <p:sp>
        <p:nvSpPr>
          <p:cNvPr id="10" name="Shape 7"/>
          <p:cNvSpPr/>
          <p:nvPr/>
        </p:nvSpPr>
        <p:spPr>
          <a:xfrm>
            <a:off x="896112" y="2971800"/>
            <a:ext cx="530352" cy="530352"/>
          </a:xfrm>
          <a:prstGeom prst="ellipse">
            <a:avLst/>
          </a:prstGeom>
          <a:solidFill>
            <a:srgbClr val="E6F5F3"/>
          </a:solidFill>
          <a:ln/>
        </p:spPr>
      </p:sp>
      <p:pic>
        <p:nvPicPr>
          <p:cNvPr id="11" name="Image 1" descr="preencoded.png"/>
          <p:cNvPicPr>
            <a:picLocks noChangeAspect="1"/>
          </p:cNvPicPr>
          <p:nvPr/>
        </p:nvPicPr>
        <p:blipFill>
          <a:blip r:embed="rId4"/>
          <a:stretch>
            <a:fillRect/>
          </a:stretch>
        </p:blipFill>
        <p:spPr>
          <a:xfrm>
            <a:off x="1015441" y="3091129"/>
            <a:ext cx="291694" cy="291694"/>
          </a:xfrm>
          <a:prstGeom prst="rect">
            <a:avLst/>
          </a:prstGeom>
        </p:spPr>
      </p:pic>
      <p:sp>
        <p:nvSpPr>
          <p:cNvPr id="12" name="Text 8"/>
          <p:cNvSpPr/>
          <p:nvPr/>
        </p:nvSpPr>
        <p:spPr>
          <a:xfrm>
            <a:off x="1664208" y="2825496"/>
            <a:ext cx="2743200" cy="80467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2. Report View</a:t>
            </a:r>
            <a:endParaRPr lang="en-US" sz="1400" dirty="0"/>
          </a:p>
        </p:txBody>
      </p:sp>
      <p:sp>
        <p:nvSpPr>
          <p:cNvPr id="13" name="Text 9"/>
          <p:cNvSpPr/>
          <p:nvPr/>
        </p:nvSpPr>
        <p:spPr>
          <a:xfrm>
            <a:off x="4526280" y="2825496"/>
            <a:ext cx="6812280" cy="804672"/>
          </a:xfrm>
          <a:prstGeom prst="rect">
            <a:avLst/>
          </a:prstGeom>
          <a:noFill/>
          <a:ln/>
        </p:spPr>
        <p:txBody>
          <a:bodyPr wrap="square"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Score factor breakdown — payment history, credit utilization, credit age, and new enquiries shown as bar indicators.</a:t>
            </a:r>
            <a:endParaRPr lang="en-US" sz="1150" dirty="0"/>
          </a:p>
        </p:txBody>
      </p:sp>
      <p:sp>
        <p:nvSpPr>
          <p:cNvPr id="14" name="Shape 10"/>
          <p:cNvSpPr/>
          <p:nvPr/>
        </p:nvSpPr>
        <p:spPr>
          <a:xfrm>
            <a:off x="640080" y="3867912"/>
            <a:ext cx="10881360" cy="987552"/>
          </a:xfrm>
          <a:prstGeom prst="roundRect">
            <a:avLst>
              <a:gd name="adj" fmla="val 5556"/>
            </a:avLst>
          </a:prstGeom>
          <a:solidFill>
            <a:srgbClr val="FFFFFF"/>
          </a:solidFill>
          <a:ln/>
          <a:effectLst>
            <a:outerShdw blurRad="76200" dist="12700" dir="5400000" algn="bl" rotWithShape="0">
              <a:srgbClr val="000000">
                <a:alpha val="8000"/>
              </a:srgbClr>
            </a:outerShdw>
          </a:effectLst>
        </p:spPr>
      </p:sp>
      <p:sp>
        <p:nvSpPr>
          <p:cNvPr id="15" name="Shape 11"/>
          <p:cNvSpPr/>
          <p:nvPr/>
        </p:nvSpPr>
        <p:spPr>
          <a:xfrm>
            <a:off x="896112" y="4105656"/>
            <a:ext cx="530352" cy="530352"/>
          </a:xfrm>
          <a:prstGeom prst="ellipse">
            <a:avLst/>
          </a:prstGeom>
          <a:solidFill>
            <a:srgbClr val="E6F5F3"/>
          </a:solidFill>
          <a:ln/>
        </p:spPr>
      </p:sp>
      <p:pic>
        <p:nvPicPr>
          <p:cNvPr id="16" name="Image 2" descr="preencoded.png"/>
          <p:cNvPicPr>
            <a:picLocks noChangeAspect="1"/>
          </p:cNvPicPr>
          <p:nvPr/>
        </p:nvPicPr>
        <p:blipFill>
          <a:blip r:embed="rId5"/>
          <a:stretch>
            <a:fillRect/>
          </a:stretch>
        </p:blipFill>
        <p:spPr>
          <a:xfrm>
            <a:off x="1015441" y="4224985"/>
            <a:ext cx="291694" cy="291694"/>
          </a:xfrm>
          <a:prstGeom prst="rect">
            <a:avLst/>
          </a:prstGeom>
        </p:spPr>
      </p:pic>
      <p:sp>
        <p:nvSpPr>
          <p:cNvPr id="17" name="Text 12"/>
          <p:cNvSpPr/>
          <p:nvPr/>
        </p:nvSpPr>
        <p:spPr>
          <a:xfrm>
            <a:off x="1664208" y="3959352"/>
            <a:ext cx="2743200" cy="80467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3. Score Trend Chart</a:t>
            </a:r>
            <a:endParaRPr lang="en-US" sz="1400" dirty="0"/>
          </a:p>
        </p:txBody>
      </p:sp>
      <p:sp>
        <p:nvSpPr>
          <p:cNvPr id="18" name="Text 13"/>
          <p:cNvSpPr/>
          <p:nvPr/>
        </p:nvSpPr>
        <p:spPr>
          <a:xfrm>
            <a:off x="4526280" y="3959352"/>
            <a:ext cx="6812280" cy="804672"/>
          </a:xfrm>
          <a:prstGeom prst="rect">
            <a:avLst/>
          </a:prstGeom>
          <a:noFill/>
          <a:ln/>
        </p:spPr>
        <p:txBody>
          <a:bodyPr wrap="square"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Visual 6-month bar chart showing how the score has changed over time, color-coded by score band.</a:t>
            </a:r>
            <a:endParaRPr lang="en-US" sz="1150" dirty="0"/>
          </a:p>
        </p:txBody>
      </p:sp>
      <p:sp>
        <p:nvSpPr>
          <p:cNvPr id="19" name="Shape 14"/>
          <p:cNvSpPr/>
          <p:nvPr/>
        </p:nvSpPr>
        <p:spPr>
          <a:xfrm>
            <a:off x="640080" y="5001768"/>
            <a:ext cx="10881360" cy="987552"/>
          </a:xfrm>
          <a:prstGeom prst="roundRect">
            <a:avLst>
              <a:gd name="adj" fmla="val 5556"/>
            </a:avLst>
          </a:prstGeom>
          <a:solidFill>
            <a:srgbClr val="FFFFFF"/>
          </a:solidFill>
          <a:ln/>
          <a:effectLst>
            <a:outerShdw blurRad="76200" dist="12700" dir="5400000" algn="bl" rotWithShape="0">
              <a:srgbClr val="000000">
                <a:alpha val="8000"/>
              </a:srgbClr>
            </a:outerShdw>
          </a:effectLst>
        </p:spPr>
      </p:sp>
      <p:sp>
        <p:nvSpPr>
          <p:cNvPr id="20" name="Shape 15"/>
          <p:cNvSpPr/>
          <p:nvPr/>
        </p:nvSpPr>
        <p:spPr>
          <a:xfrm>
            <a:off x="896112" y="5239512"/>
            <a:ext cx="530352" cy="530352"/>
          </a:xfrm>
          <a:prstGeom prst="ellipse">
            <a:avLst/>
          </a:prstGeom>
          <a:solidFill>
            <a:srgbClr val="E6F5F3"/>
          </a:solidFill>
          <a:ln/>
        </p:spPr>
      </p:sp>
      <p:pic>
        <p:nvPicPr>
          <p:cNvPr id="21" name="Image 3" descr="preencoded.png"/>
          <p:cNvPicPr>
            <a:picLocks noChangeAspect="1"/>
          </p:cNvPicPr>
          <p:nvPr/>
        </p:nvPicPr>
        <p:blipFill>
          <a:blip r:embed="rId6"/>
          <a:stretch>
            <a:fillRect/>
          </a:stretch>
        </p:blipFill>
        <p:spPr>
          <a:xfrm>
            <a:off x="1015441" y="5358841"/>
            <a:ext cx="291694" cy="291694"/>
          </a:xfrm>
          <a:prstGeom prst="rect">
            <a:avLst/>
          </a:prstGeom>
        </p:spPr>
      </p:pic>
      <p:sp>
        <p:nvSpPr>
          <p:cNvPr id="22" name="Text 16"/>
          <p:cNvSpPr/>
          <p:nvPr/>
        </p:nvSpPr>
        <p:spPr>
          <a:xfrm>
            <a:off x="1664208" y="5093208"/>
            <a:ext cx="2743200" cy="80467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4. History</a:t>
            </a:r>
            <a:endParaRPr lang="en-US" sz="1400" dirty="0"/>
          </a:p>
        </p:txBody>
      </p:sp>
      <p:sp>
        <p:nvSpPr>
          <p:cNvPr id="23" name="Text 17"/>
          <p:cNvSpPr/>
          <p:nvPr/>
        </p:nvSpPr>
        <p:spPr>
          <a:xfrm>
            <a:off x="4526280" y="5093208"/>
            <a:ext cx="6812280" cy="804672"/>
          </a:xfrm>
          <a:prstGeom prst="rect">
            <a:avLst/>
          </a:prstGeom>
          <a:noFill/>
          <a:ln/>
        </p:spPr>
        <p:txBody>
          <a:bodyPr wrap="square" rtlCol="0" anchor="ctr"/>
          <a:lstStyle/>
          <a:p>
            <a:pPr marL="0" indent="0">
              <a:lnSpc>
                <a:spcPct val="120000"/>
              </a:lnSpc>
              <a:buNone/>
            </a:pPr>
            <a:r>
              <a:rPr lang="en-US" sz="1150" dirty="0">
                <a:solidFill>
                  <a:srgbClr val="5C7080"/>
                </a:solidFill>
                <a:latin typeface="Calibri" pitchFamily="34" charset="0"/>
                <a:ea typeface="Calibri" pitchFamily="34" charset="-122"/>
                <a:cs typeface="Calibri" pitchFamily="34" charset="-120"/>
              </a:rPr>
              <a:t>Dedicated page listing every past score check with date, score, and category, newest first.</a:t>
            </a:r>
            <a:endParaRPr lang="en-US" sz="1150" dirty="0"/>
          </a:p>
        </p:txBody>
      </p:sp>
      <p:sp>
        <p:nvSpPr>
          <p:cNvPr id="24" name="Text 1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5" name="Text 19"/>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Functional Modules</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10 modules implemented — Part 2 of 3</a:t>
            </a:r>
            <a:endParaRPr lang="en-US" sz="1300" dirty="0"/>
          </a:p>
        </p:txBody>
      </p:sp>
      <p:sp>
        <p:nvSpPr>
          <p:cNvPr id="4" name="Shape 2"/>
          <p:cNvSpPr/>
          <p:nvPr/>
        </p:nvSpPr>
        <p:spPr>
          <a:xfrm>
            <a:off x="640080" y="1691640"/>
            <a:ext cx="10881360" cy="1234440"/>
          </a:xfrm>
          <a:prstGeom prst="roundRect">
            <a:avLst>
              <a:gd name="adj" fmla="val 4444"/>
            </a:avLst>
          </a:prstGeom>
          <a:solidFill>
            <a:srgbClr val="FFFFFF"/>
          </a:solidFill>
          <a:ln/>
          <a:effectLst>
            <a:outerShdw blurRad="76200" dist="12700" dir="5400000" algn="bl" rotWithShape="0">
              <a:srgbClr val="000000">
                <a:alpha val="8000"/>
              </a:srgbClr>
            </a:outerShdw>
          </a:effectLst>
        </p:spPr>
      </p:sp>
      <p:sp>
        <p:nvSpPr>
          <p:cNvPr id="5" name="Shape 3"/>
          <p:cNvSpPr/>
          <p:nvPr/>
        </p:nvSpPr>
        <p:spPr>
          <a:xfrm>
            <a:off x="896112" y="2039112"/>
            <a:ext cx="548640" cy="54864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19556" y="2162556"/>
            <a:ext cx="301752" cy="301752"/>
          </a:xfrm>
          <a:prstGeom prst="rect">
            <a:avLst/>
          </a:prstGeom>
        </p:spPr>
      </p:pic>
      <p:sp>
        <p:nvSpPr>
          <p:cNvPr id="7" name="Text 4"/>
          <p:cNvSpPr/>
          <p:nvPr/>
        </p:nvSpPr>
        <p:spPr>
          <a:xfrm>
            <a:off x="1691640" y="1801368"/>
            <a:ext cx="2743200" cy="10058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5. Dispute Form</a:t>
            </a:r>
            <a:endParaRPr lang="en-US" sz="1500" dirty="0"/>
          </a:p>
        </p:txBody>
      </p:sp>
      <p:sp>
        <p:nvSpPr>
          <p:cNvPr id="8" name="Text 5"/>
          <p:cNvSpPr/>
          <p:nvPr/>
        </p:nvSpPr>
        <p:spPr>
          <a:xfrm>
            <a:off x="4526280" y="1801368"/>
            <a:ext cx="6812280" cy="1005840"/>
          </a:xfrm>
          <a:prstGeom prst="rect">
            <a:avLst/>
          </a:prstGeom>
          <a:noFill/>
          <a:ln/>
        </p:spPr>
        <p:txBody>
          <a:bodyPr wrap="square" rtlCol="0" anchor="ctr"/>
          <a:lstStyle/>
          <a:p>
            <a:pPr marL="0" indent="0">
              <a:lnSpc>
                <a:spcPct val="125000"/>
              </a:lnSpc>
              <a:buNone/>
            </a:pPr>
            <a:r>
              <a:rPr lang="en-US" sz="1250" dirty="0">
                <a:solidFill>
                  <a:srgbClr val="5C7080"/>
                </a:solidFill>
                <a:latin typeface="Calibri" pitchFamily="34" charset="0"/>
                <a:ea typeface="Calibri" pitchFamily="34" charset="-122"/>
                <a:cs typeface="Calibri" pitchFamily="34" charset="-120"/>
              </a:rPr>
              <a:t>Form to report incorrect entries (wrong account, balance, fraud, etc.), tracked with a Pending/Resolved status.</a:t>
            </a:r>
            <a:endParaRPr lang="en-US" sz="1250" dirty="0"/>
          </a:p>
        </p:txBody>
      </p:sp>
      <p:sp>
        <p:nvSpPr>
          <p:cNvPr id="9" name="Shape 6"/>
          <p:cNvSpPr/>
          <p:nvPr/>
        </p:nvSpPr>
        <p:spPr>
          <a:xfrm>
            <a:off x="640080" y="3081528"/>
            <a:ext cx="10881360" cy="1234440"/>
          </a:xfrm>
          <a:prstGeom prst="roundRect">
            <a:avLst>
              <a:gd name="adj" fmla="val 4444"/>
            </a:avLst>
          </a:prstGeom>
          <a:solidFill>
            <a:srgbClr val="FFFFFF"/>
          </a:solidFill>
          <a:ln/>
          <a:effectLst>
            <a:outerShdw blurRad="76200" dist="12700" dir="5400000" algn="bl" rotWithShape="0">
              <a:srgbClr val="000000">
                <a:alpha val="8000"/>
              </a:srgbClr>
            </a:outerShdw>
          </a:effectLst>
        </p:spPr>
      </p:sp>
      <p:sp>
        <p:nvSpPr>
          <p:cNvPr id="10" name="Shape 7"/>
          <p:cNvSpPr/>
          <p:nvPr/>
        </p:nvSpPr>
        <p:spPr>
          <a:xfrm>
            <a:off x="896112" y="3429000"/>
            <a:ext cx="548640" cy="548640"/>
          </a:xfrm>
          <a:prstGeom prst="ellipse">
            <a:avLst/>
          </a:prstGeom>
          <a:solidFill>
            <a:srgbClr val="E6F5F3"/>
          </a:solidFill>
          <a:ln/>
        </p:spPr>
      </p:sp>
      <p:pic>
        <p:nvPicPr>
          <p:cNvPr id="11" name="Image 1" descr="preencoded.png"/>
          <p:cNvPicPr>
            <a:picLocks noChangeAspect="1"/>
          </p:cNvPicPr>
          <p:nvPr/>
        </p:nvPicPr>
        <p:blipFill>
          <a:blip r:embed="rId4"/>
          <a:stretch>
            <a:fillRect/>
          </a:stretch>
        </p:blipFill>
        <p:spPr>
          <a:xfrm>
            <a:off x="1019556" y="3552444"/>
            <a:ext cx="301752" cy="301752"/>
          </a:xfrm>
          <a:prstGeom prst="rect">
            <a:avLst/>
          </a:prstGeom>
        </p:spPr>
      </p:pic>
      <p:sp>
        <p:nvSpPr>
          <p:cNvPr id="12" name="Text 8"/>
          <p:cNvSpPr/>
          <p:nvPr/>
        </p:nvSpPr>
        <p:spPr>
          <a:xfrm>
            <a:off x="1691640" y="3191256"/>
            <a:ext cx="2743200" cy="10058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6. Improvement Tips</a:t>
            </a:r>
            <a:endParaRPr lang="en-US" sz="1500" dirty="0"/>
          </a:p>
        </p:txBody>
      </p:sp>
      <p:sp>
        <p:nvSpPr>
          <p:cNvPr id="13" name="Text 9"/>
          <p:cNvSpPr/>
          <p:nvPr/>
        </p:nvSpPr>
        <p:spPr>
          <a:xfrm>
            <a:off x="4526280" y="3191256"/>
            <a:ext cx="6812280" cy="1005840"/>
          </a:xfrm>
          <a:prstGeom prst="rect">
            <a:avLst/>
          </a:prstGeom>
          <a:noFill/>
          <a:ln/>
        </p:spPr>
        <p:txBody>
          <a:bodyPr wrap="square" rtlCol="0" anchor="ctr"/>
          <a:lstStyle/>
          <a:p>
            <a:pPr marL="0" indent="0">
              <a:lnSpc>
                <a:spcPct val="125000"/>
              </a:lnSpc>
              <a:buNone/>
            </a:pPr>
            <a:r>
              <a:rPr lang="en-US" sz="1250" dirty="0">
                <a:solidFill>
                  <a:srgbClr val="5C7080"/>
                </a:solidFill>
                <a:latin typeface="Calibri" pitchFamily="34" charset="0"/>
                <a:ea typeface="Calibri" pitchFamily="34" charset="-122"/>
                <a:cs typeface="Calibri" pitchFamily="34" charset="-120"/>
              </a:rPr>
              <a:t>Personalized, score-band-specific tips (Poor/Average/Good/Excellent) to help the user raise their CIBIL score.</a:t>
            </a:r>
            <a:endParaRPr lang="en-US" sz="1250" dirty="0"/>
          </a:p>
        </p:txBody>
      </p:sp>
      <p:sp>
        <p:nvSpPr>
          <p:cNvPr id="14" name="Shape 10"/>
          <p:cNvSpPr/>
          <p:nvPr/>
        </p:nvSpPr>
        <p:spPr>
          <a:xfrm>
            <a:off x="640080" y="4471416"/>
            <a:ext cx="10881360" cy="1234440"/>
          </a:xfrm>
          <a:prstGeom prst="roundRect">
            <a:avLst>
              <a:gd name="adj" fmla="val 4444"/>
            </a:avLst>
          </a:prstGeom>
          <a:solidFill>
            <a:srgbClr val="FFFFFF"/>
          </a:solidFill>
          <a:ln/>
          <a:effectLst>
            <a:outerShdw blurRad="76200" dist="12700" dir="5400000" algn="bl" rotWithShape="0">
              <a:srgbClr val="000000">
                <a:alpha val="8000"/>
              </a:srgbClr>
            </a:outerShdw>
          </a:effectLst>
        </p:spPr>
      </p:sp>
      <p:sp>
        <p:nvSpPr>
          <p:cNvPr id="15" name="Shape 11"/>
          <p:cNvSpPr/>
          <p:nvPr/>
        </p:nvSpPr>
        <p:spPr>
          <a:xfrm>
            <a:off x="896112" y="4818888"/>
            <a:ext cx="548640" cy="548640"/>
          </a:xfrm>
          <a:prstGeom prst="ellipse">
            <a:avLst/>
          </a:prstGeom>
          <a:solidFill>
            <a:srgbClr val="E6F5F3"/>
          </a:solidFill>
          <a:ln/>
        </p:spPr>
      </p:sp>
      <p:pic>
        <p:nvPicPr>
          <p:cNvPr id="16" name="Image 2" descr="preencoded.png"/>
          <p:cNvPicPr>
            <a:picLocks noChangeAspect="1"/>
          </p:cNvPicPr>
          <p:nvPr/>
        </p:nvPicPr>
        <p:blipFill>
          <a:blip r:embed="rId5"/>
          <a:stretch>
            <a:fillRect/>
          </a:stretch>
        </p:blipFill>
        <p:spPr>
          <a:xfrm>
            <a:off x="1019556" y="4942332"/>
            <a:ext cx="301752" cy="301752"/>
          </a:xfrm>
          <a:prstGeom prst="rect">
            <a:avLst/>
          </a:prstGeom>
        </p:spPr>
      </p:pic>
      <p:sp>
        <p:nvSpPr>
          <p:cNvPr id="17" name="Text 12"/>
          <p:cNvSpPr/>
          <p:nvPr/>
        </p:nvSpPr>
        <p:spPr>
          <a:xfrm>
            <a:off x="1691640" y="4581144"/>
            <a:ext cx="2743200" cy="10058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7. Eligibility Hint</a:t>
            </a:r>
            <a:endParaRPr lang="en-US" sz="1500" dirty="0"/>
          </a:p>
        </p:txBody>
      </p:sp>
      <p:sp>
        <p:nvSpPr>
          <p:cNvPr id="18" name="Text 13"/>
          <p:cNvSpPr/>
          <p:nvPr/>
        </p:nvSpPr>
        <p:spPr>
          <a:xfrm>
            <a:off x="4526280" y="4581144"/>
            <a:ext cx="6812280" cy="1005840"/>
          </a:xfrm>
          <a:prstGeom prst="rect">
            <a:avLst/>
          </a:prstGeom>
          <a:noFill/>
          <a:ln/>
        </p:spPr>
        <p:txBody>
          <a:bodyPr wrap="square" rtlCol="0" anchor="ctr"/>
          <a:lstStyle/>
          <a:p>
            <a:pPr marL="0" indent="0">
              <a:lnSpc>
                <a:spcPct val="125000"/>
              </a:lnSpc>
              <a:buNone/>
            </a:pPr>
            <a:r>
              <a:rPr lang="en-US" sz="1250" dirty="0">
                <a:solidFill>
                  <a:srgbClr val="5C7080"/>
                </a:solidFill>
                <a:latin typeface="Calibri" pitchFamily="34" charset="0"/>
                <a:ea typeface="Calibri" pitchFamily="34" charset="-122"/>
                <a:cs typeface="Calibri" pitchFamily="34" charset="-120"/>
              </a:rPr>
              <a:t>Shows which loans and cards the user currently qualifies for, and how many points are needed for the rest.</a:t>
            </a:r>
            <a:endParaRPr lang="en-US" sz="1250" dirty="0"/>
          </a:p>
        </p:txBody>
      </p:sp>
      <p:sp>
        <p:nvSpPr>
          <p:cNvPr id="19"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0" name="Text 15"/>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Functional Modules</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10 modules implemented — Part 3 of 3</a:t>
            </a:r>
            <a:endParaRPr lang="en-US" sz="1300" dirty="0"/>
          </a:p>
        </p:txBody>
      </p:sp>
      <p:sp>
        <p:nvSpPr>
          <p:cNvPr id="4" name="Shape 2"/>
          <p:cNvSpPr/>
          <p:nvPr/>
        </p:nvSpPr>
        <p:spPr>
          <a:xfrm>
            <a:off x="640080" y="1691640"/>
            <a:ext cx="10881360" cy="1234440"/>
          </a:xfrm>
          <a:prstGeom prst="roundRect">
            <a:avLst>
              <a:gd name="adj" fmla="val 4444"/>
            </a:avLst>
          </a:prstGeom>
          <a:solidFill>
            <a:srgbClr val="FFFFFF"/>
          </a:solidFill>
          <a:ln/>
          <a:effectLst>
            <a:outerShdw blurRad="76200" dist="12700" dir="5400000" algn="bl" rotWithShape="0">
              <a:srgbClr val="000000">
                <a:alpha val="8000"/>
              </a:srgbClr>
            </a:outerShdw>
          </a:effectLst>
        </p:spPr>
      </p:sp>
      <p:sp>
        <p:nvSpPr>
          <p:cNvPr id="5" name="Shape 3"/>
          <p:cNvSpPr/>
          <p:nvPr/>
        </p:nvSpPr>
        <p:spPr>
          <a:xfrm>
            <a:off x="896112" y="2039112"/>
            <a:ext cx="548640" cy="54864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19556" y="2162556"/>
            <a:ext cx="301752" cy="301752"/>
          </a:xfrm>
          <a:prstGeom prst="rect">
            <a:avLst/>
          </a:prstGeom>
        </p:spPr>
      </p:pic>
      <p:sp>
        <p:nvSpPr>
          <p:cNvPr id="7" name="Text 4"/>
          <p:cNvSpPr/>
          <p:nvPr/>
        </p:nvSpPr>
        <p:spPr>
          <a:xfrm>
            <a:off x="1691640" y="1801368"/>
            <a:ext cx="2743200" cy="10058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8. Notifications</a:t>
            </a:r>
            <a:endParaRPr lang="en-US" sz="1500" dirty="0"/>
          </a:p>
        </p:txBody>
      </p:sp>
      <p:sp>
        <p:nvSpPr>
          <p:cNvPr id="8" name="Text 5"/>
          <p:cNvSpPr/>
          <p:nvPr/>
        </p:nvSpPr>
        <p:spPr>
          <a:xfrm>
            <a:off x="4526280" y="1801368"/>
            <a:ext cx="6812280" cy="1005840"/>
          </a:xfrm>
          <a:prstGeom prst="rect">
            <a:avLst/>
          </a:prstGeom>
          <a:noFill/>
          <a:ln/>
        </p:spPr>
        <p:txBody>
          <a:bodyPr wrap="square" rtlCol="0" anchor="ctr"/>
          <a:lstStyle/>
          <a:p>
            <a:pPr marL="0" indent="0">
              <a:lnSpc>
                <a:spcPct val="125000"/>
              </a:lnSpc>
              <a:buNone/>
            </a:pPr>
            <a:r>
              <a:rPr lang="en-US" sz="1250" dirty="0">
                <a:solidFill>
                  <a:srgbClr val="5C7080"/>
                </a:solidFill>
                <a:latin typeface="Calibri" pitchFamily="34" charset="0"/>
                <a:ea typeface="Calibri" pitchFamily="34" charset="-122"/>
                <a:cs typeface="Calibri" pitchFamily="34" charset="-120"/>
              </a:rPr>
              <a:t>In-app notification bell with unread badge count; click to mark as read, with a 'mark all read' option.</a:t>
            </a:r>
            <a:endParaRPr lang="en-US" sz="1250" dirty="0"/>
          </a:p>
        </p:txBody>
      </p:sp>
      <p:sp>
        <p:nvSpPr>
          <p:cNvPr id="9" name="Shape 6"/>
          <p:cNvSpPr/>
          <p:nvPr/>
        </p:nvSpPr>
        <p:spPr>
          <a:xfrm>
            <a:off x="640080" y="3081528"/>
            <a:ext cx="10881360" cy="1234440"/>
          </a:xfrm>
          <a:prstGeom prst="roundRect">
            <a:avLst>
              <a:gd name="adj" fmla="val 4444"/>
            </a:avLst>
          </a:prstGeom>
          <a:solidFill>
            <a:srgbClr val="FFFFFF"/>
          </a:solidFill>
          <a:ln/>
          <a:effectLst>
            <a:outerShdw blurRad="76200" dist="12700" dir="5400000" algn="bl" rotWithShape="0">
              <a:srgbClr val="000000">
                <a:alpha val="8000"/>
              </a:srgbClr>
            </a:outerShdw>
          </a:effectLst>
        </p:spPr>
      </p:sp>
      <p:sp>
        <p:nvSpPr>
          <p:cNvPr id="10" name="Shape 7"/>
          <p:cNvSpPr/>
          <p:nvPr/>
        </p:nvSpPr>
        <p:spPr>
          <a:xfrm>
            <a:off x="896112" y="3429000"/>
            <a:ext cx="548640" cy="548640"/>
          </a:xfrm>
          <a:prstGeom prst="ellipse">
            <a:avLst/>
          </a:prstGeom>
          <a:solidFill>
            <a:srgbClr val="E6F5F3"/>
          </a:solidFill>
          <a:ln/>
        </p:spPr>
      </p:sp>
      <p:pic>
        <p:nvPicPr>
          <p:cNvPr id="11" name="Image 1" descr="preencoded.png"/>
          <p:cNvPicPr>
            <a:picLocks noChangeAspect="1"/>
          </p:cNvPicPr>
          <p:nvPr/>
        </p:nvPicPr>
        <p:blipFill>
          <a:blip r:embed="rId4"/>
          <a:stretch>
            <a:fillRect/>
          </a:stretch>
        </p:blipFill>
        <p:spPr>
          <a:xfrm>
            <a:off x="1019556" y="3552444"/>
            <a:ext cx="301752" cy="301752"/>
          </a:xfrm>
          <a:prstGeom prst="rect">
            <a:avLst/>
          </a:prstGeom>
        </p:spPr>
      </p:pic>
      <p:sp>
        <p:nvSpPr>
          <p:cNvPr id="12" name="Text 8"/>
          <p:cNvSpPr/>
          <p:nvPr/>
        </p:nvSpPr>
        <p:spPr>
          <a:xfrm>
            <a:off x="1691640" y="3191256"/>
            <a:ext cx="2743200" cy="10058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9. Admin Panel</a:t>
            </a:r>
            <a:endParaRPr lang="en-US" sz="1500" dirty="0"/>
          </a:p>
        </p:txBody>
      </p:sp>
      <p:sp>
        <p:nvSpPr>
          <p:cNvPr id="13" name="Text 9"/>
          <p:cNvSpPr/>
          <p:nvPr/>
        </p:nvSpPr>
        <p:spPr>
          <a:xfrm>
            <a:off x="4526280" y="3191256"/>
            <a:ext cx="6812280" cy="1005840"/>
          </a:xfrm>
          <a:prstGeom prst="rect">
            <a:avLst/>
          </a:prstGeom>
          <a:noFill/>
          <a:ln/>
        </p:spPr>
        <p:txBody>
          <a:bodyPr wrap="square" rtlCol="0" anchor="ctr"/>
          <a:lstStyle/>
          <a:p>
            <a:pPr marL="0" indent="0">
              <a:lnSpc>
                <a:spcPct val="125000"/>
              </a:lnSpc>
              <a:buNone/>
            </a:pPr>
            <a:r>
              <a:rPr lang="en-US" sz="1250" dirty="0">
                <a:solidFill>
                  <a:srgbClr val="5C7080"/>
                </a:solidFill>
                <a:latin typeface="Calibri" pitchFamily="34" charset="0"/>
                <a:ea typeface="Calibri" pitchFamily="34" charset="-122"/>
                <a:cs typeface="Calibri" pitchFamily="34" charset="-120"/>
              </a:rPr>
              <a:t>Separate admin login to view all registered users, average score, and resolve submitted disputes.</a:t>
            </a:r>
            <a:endParaRPr lang="en-US" sz="1250" dirty="0"/>
          </a:p>
        </p:txBody>
      </p:sp>
      <p:sp>
        <p:nvSpPr>
          <p:cNvPr id="14" name="Shape 10"/>
          <p:cNvSpPr/>
          <p:nvPr/>
        </p:nvSpPr>
        <p:spPr>
          <a:xfrm>
            <a:off x="640080" y="4471416"/>
            <a:ext cx="10881360" cy="1234440"/>
          </a:xfrm>
          <a:prstGeom prst="roundRect">
            <a:avLst>
              <a:gd name="adj" fmla="val 4444"/>
            </a:avLst>
          </a:prstGeom>
          <a:solidFill>
            <a:srgbClr val="FFFFFF"/>
          </a:solidFill>
          <a:ln/>
          <a:effectLst>
            <a:outerShdw blurRad="76200" dist="12700" dir="5400000" algn="bl" rotWithShape="0">
              <a:srgbClr val="000000">
                <a:alpha val="8000"/>
              </a:srgbClr>
            </a:outerShdw>
          </a:effectLst>
        </p:spPr>
      </p:sp>
      <p:sp>
        <p:nvSpPr>
          <p:cNvPr id="15" name="Shape 11"/>
          <p:cNvSpPr/>
          <p:nvPr/>
        </p:nvSpPr>
        <p:spPr>
          <a:xfrm>
            <a:off x="896112" y="4818888"/>
            <a:ext cx="548640" cy="548640"/>
          </a:xfrm>
          <a:prstGeom prst="ellipse">
            <a:avLst/>
          </a:prstGeom>
          <a:solidFill>
            <a:srgbClr val="E6F5F3"/>
          </a:solidFill>
          <a:ln/>
        </p:spPr>
      </p:sp>
      <p:pic>
        <p:nvPicPr>
          <p:cNvPr id="16" name="Image 2" descr="preencoded.png"/>
          <p:cNvPicPr>
            <a:picLocks noChangeAspect="1"/>
          </p:cNvPicPr>
          <p:nvPr/>
        </p:nvPicPr>
        <p:blipFill>
          <a:blip r:embed="rId5"/>
          <a:stretch>
            <a:fillRect/>
          </a:stretch>
        </p:blipFill>
        <p:spPr>
          <a:xfrm>
            <a:off x="1019556" y="4942332"/>
            <a:ext cx="301752" cy="301752"/>
          </a:xfrm>
          <a:prstGeom prst="rect">
            <a:avLst/>
          </a:prstGeom>
        </p:spPr>
      </p:pic>
      <p:sp>
        <p:nvSpPr>
          <p:cNvPr id="17" name="Text 12"/>
          <p:cNvSpPr/>
          <p:nvPr/>
        </p:nvSpPr>
        <p:spPr>
          <a:xfrm>
            <a:off x="1691640" y="4581144"/>
            <a:ext cx="2743200" cy="10058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10. Export</a:t>
            </a:r>
            <a:endParaRPr lang="en-US" sz="1500" dirty="0"/>
          </a:p>
        </p:txBody>
      </p:sp>
      <p:sp>
        <p:nvSpPr>
          <p:cNvPr id="18" name="Text 13"/>
          <p:cNvSpPr/>
          <p:nvPr/>
        </p:nvSpPr>
        <p:spPr>
          <a:xfrm>
            <a:off x="4526280" y="4581144"/>
            <a:ext cx="6812280" cy="1005840"/>
          </a:xfrm>
          <a:prstGeom prst="rect">
            <a:avLst/>
          </a:prstGeom>
          <a:noFill/>
          <a:ln/>
        </p:spPr>
        <p:txBody>
          <a:bodyPr wrap="square" rtlCol="0" anchor="ctr"/>
          <a:lstStyle/>
          <a:p>
            <a:pPr marL="0" indent="0">
              <a:lnSpc>
                <a:spcPct val="125000"/>
              </a:lnSpc>
              <a:buNone/>
            </a:pPr>
            <a:r>
              <a:rPr lang="en-US" sz="1250" dirty="0">
                <a:solidFill>
                  <a:srgbClr val="5C7080"/>
                </a:solidFill>
                <a:latin typeface="Calibri" pitchFamily="34" charset="0"/>
                <a:ea typeface="Calibri" pitchFamily="34" charset="-122"/>
                <a:cs typeface="Calibri" pitchFamily="34" charset="-120"/>
              </a:rPr>
              <a:t>Download a full score report (.txt) or score history (.csv) for offline records.</a:t>
            </a:r>
            <a:endParaRPr lang="en-US" sz="1250" dirty="0"/>
          </a:p>
        </p:txBody>
      </p:sp>
      <p:sp>
        <p:nvSpPr>
          <p:cNvPr id="19"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0" name="Text 15"/>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Form Engineering &amp; Validation</a:t>
            </a:r>
            <a:endParaRPr lang="en-US" sz="2800" dirty="0"/>
          </a:p>
        </p:txBody>
      </p:sp>
      <p:sp>
        <p:nvSpPr>
          <p:cNvPr id="3" name="Text 1"/>
          <p:cNvSpPr/>
          <p:nvPr/>
        </p:nvSpPr>
        <p:spPr>
          <a:xfrm>
            <a:off x="640080" y="941832"/>
            <a:ext cx="82296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How user input is validated across the application (CO5)</a:t>
            </a:r>
            <a:endParaRPr lang="en-US" sz="1300" dirty="0"/>
          </a:p>
        </p:txBody>
      </p:sp>
      <p:sp>
        <p:nvSpPr>
          <p:cNvPr id="4" name="Shape 2"/>
          <p:cNvSpPr/>
          <p:nvPr/>
        </p:nvSpPr>
        <p:spPr>
          <a:xfrm>
            <a:off x="640080" y="1463040"/>
            <a:ext cx="5486400" cy="4754880"/>
          </a:xfrm>
          <a:prstGeom prst="roundRect">
            <a:avLst>
              <a:gd name="adj" fmla="val 1154"/>
            </a:avLst>
          </a:prstGeom>
          <a:solidFill>
            <a:srgbClr val="FFFFFF"/>
          </a:solidFill>
          <a:ln/>
          <a:effectLst>
            <a:outerShdw blurRad="101600" dist="25400" dir="5400000" algn="bl" rotWithShape="0">
              <a:srgbClr val="000000">
                <a:alpha val="10000"/>
              </a:srgbClr>
            </a:outerShdw>
          </a:effectLst>
        </p:spPr>
      </p:sp>
      <p:sp>
        <p:nvSpPr>
          <p:cNvPr id="5" name="Shape 3"/>
          <p:cNvSpPr/>
          <p:nvPr/>
        </p:nvSpPr>
        <p:spPr>
          <a:xfrm>
            <a:off x="914400" y="1737360"/>
            <a:ext cx="548640" cy="54864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37844" y="1860804"/>
            <a:ext cx="301752" cy="301752"/>
          </a:xfrm>
          <a:prstGeom prst="rect">
            <a:avLst/>
          </a:prstGeom>
        </p:spPr>
      </p:pic>
      <p:sp>
        <p:nvSpPr>
          <p:cNvPr id="7" name="Text 4"/>
          <p:cNvSpPr/>
          <p:nvPr/>
        </p:nvSpPr>
        <p:spPr>
          <a:xfrm>
            <a:off x="1600200" y="1828800"/>
            <a:ext cx="4297680" cy="36576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Validation Rules Applied</a:t>
            </a:r>
            <a:endParaRPr lang="en-US" sz="1500" dirty="0"/>
          </a:p>
        </p:txBody>
      </p:sp>
      <p:sp>
        <p:nvSpPr>
          <p:cNvPr id="8" name="Shape 5"/>
          <p:cNvSpPr/>
          <p:nvPr/>
        </p:nvSpPr>
        <p:spPr>
          <a:xfrm>
            <a:off x="914400" y="2468880"/>
            <a:ext cx="109728" cy="109728"/>
          </a:xfrm>
          <a:prstGeom prst="ellipse">
            <a:avLst/>
          </a:prstGeom>
          <a:solidFill>
            <a:srgbClr val="0C7C73"/>
          </a:solidFill>
          <a:ln/>
        </p:spPr>
      </p:sp>
      <p:sp>
        <p:nvSpPr>
          <p:cNvPr id="9" name="Text 6"/>
          <p:cNvSpPr/>
          <p:nvPr/>
        </p:nvSpPr>
        <p:spPr>
          <a:xfrm>
            <a:off x="1188720" y="2350008"/>
            <a:ext cx="4754880" cy="45720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Required field checks before any submit handler proceeds</a:t>
            </a:r>
            <a:endParaRPr lang="en-US" sz="1200" dirty="0"/>
          </a:p>
        </p:txBody>
      </p:sp>
      <p:sp>
        <p:nvSpPr>
          <p:cNvPr id="10" name="Shape 7"/>
          <p:cNvSpPr/>
          <p:nvPr/>
        </p:nvSpPr>
        <p:spPr>
          <a:xfrm>
            <a:off x="914400" y="3072384"/>
            <a:ext cx="109728" cy="109728"/>
          </a:xfrm>
          <a:prstGeom prst="ellipse">
            <a:avLst/>
          </a:prstGeom>
          <a:solidFill>
            <a:srgbClr val="0C7C73"/>
          </a:solidFill>
          <a:ln/>
        </p:spPr>
      </p:sp>
      <p:sp>
        <p:nvSpPr>
          <p:cNvPr id="11" name="Text 8"/>
          <p:cNvSpPr/>
          <p:nvPr/>
        </p:nvSpPr>
        <p:spPr>
          <a:xfrm>
            <a:off x="1188720" y="2953512"/>
            <a:ext cx="4754880" cy="45720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Email format validation using a basic '@' pattern check</a:t>
            </a:r>
            <a:endParaRPr lang="en-US" sz="1200" dirty="0"/>
          </a:p>
        </p:txBody>
      </p:sp>
      <p:sp>
        <p:nvSpPr>
          <p:cNvPr id="12" name="Shape 9"/>
          <p:cNvSpPr/>
          <p:nvPr/>
        </p:nvSpPr>
        <p:spPr>
          <a:xfrm>
            <a:off x="914400" y="3675888"/>
            <a:ext cx="109728" cy="109728"/>
          </a:xfrm>
          <a:prstGeom prst="ellipse">
            <a:avLst/>
          </a:prstGeom>
          <a:solidFill>
            <a:srgbClr val="0C7C73"/>
          </a:solidFill>
          <a:ln/>
        </p:spPr>
      </p:sp>
      <p:sp>
        <p:nvSpPr>
          <p:cNvPr id="13" name="Text 10"/>
          <p:cNvSpPr/>
          <p:nvPr/>
        </p:nvSpPr>
        <p:spPr>
          <a:xfrm>
            <a:off x="1188720" y="3557016"/>
            <a:ext cx="4754880" cy="45720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Minimum password length enforced (4+ characters)</a:t>
            </a:r>
            <a:endParaRPr lang="en-US" sz="1200" dirty="0"/>
          </a:p>
        </p:txBody>
      </p:sp>
      <p:sp>
        <p:nvSpPr>
          <p:cNvPr id="14" name="Shape 11"/>
          <p:cNvSpPr/>
          <p:nvPr/>
        </p:nvSpPr>
        <p:spPr>
          <a:xfrm>
            <a:off x="914400" y="4279392"/>
            <a:ext cx="109728" cy="109728"/>
          </a:xfrm>
          <a:prstGeom prst="ellipse">
            <a:avLst/>
          </a:prstGeom>
          <a:solidFill>
            <a:srgbClr val="0C7C73"/>
          </a:solidFill>
          <a:ln/>
        </p:spPr>
      </p:sp>
      <p:sp>
        <p:nvSpPr>
          <p:cNvPr id="15" name="Text 12"/>
          <p:cNvSpPr/>
          <p:nvPr/>
        </p:nvSpPr>
        <p:spPr>
          <a:xfrm>
            <a:off x="1188720" y="4160520"/>
            <a:ext cx="4754880" cy="45720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PAN number restricted to exactly 10 characters</a:t>
            </a:r>
            <a:endParaRPr lang="en-US" sz="1200" dirty="0"/>
          </a:p>
        </p:txBody>
      </p:sp>
      <p:sp>
        <p:nvSpPr>
          <p:cNvPr id="16" name="Shape 13"/>
          <p:cNvSpPr/>
          <p:nvPr/>
        </p:nvSpPr>
        <p:spPr>
          <a:xfrm>
            <a:off x="914400" y="4882896"/>
            <a:ext cx="109728" cy="109728"/>
          </a:xfrm>
          <a:prstGeom prst="ellipse">
            <a:avLst/>
          </a:prstGeom>
          <a:solidFill>
            <a:srgbClr val="0C7C73"/>
          </a:solidFill>
          <a:ln/>
        </p:spPr>
      </p:sp>
      <p:sp>
        <p:nvSpPr>
          <p:cNvPr id="17" name="Text 14"/>
          <p:cNvSpPr/>
          <p:nvPr/>
        </p:nvSpPr>
        <p:spPr>
          <a:xfrm>
            <a:off x="1188720" y="4764024"/>
            <a:ext cx="4754880" cy="45720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Mobile number restricted to exactly 10 digits</a:t>
            </a:r>
            <a:endParaRPr lang="en-US" sz="1200" dirty="0"/>
          </a:p>
        </p:txBody>
      </p:sp>
      <p:sp>
        <p:nvSpPr>
          <p:cNvPr id="18" name="Shape 15"/>
          <p:cNvSpPr/>
          <p:nvPr/>
        </p:nvSpPr>
        <p:spPr>
          <a:xfrm>
            <a:off x="914400" y="5486400"/>
            <a:ext cx="109728" cy="109728"/>
          </a:xfrm>
          <a:prstGeom prst="ellipse">
            <a:avLst/>
          </a:prstGeom>
          <a:solidFill>
            <a:srgbClr val="0C7C73"/>
          </a:solidFill>
          <a:ln/>
        </p:spPr>
      </p:sp>
      <p:sp>
        <p:nvSpPr>
          <p:cNvPr id="19" name="Text 16"/>
          <p:cNvSpPr/>
          <p:nvPr/>
        </p:nvSpPr>
        <p:spPr>
          <a:xfrm>
            <a:off x="1188720" y="5367528"/>
            <a:ext cx="4754880" cy="45720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Inline error messages shown directly below the form</a:t>
            </a:r>
            <a:endParaRPr lang="en-US" sz="1200" dirty="0"/>
          </a:p>
        </p:txBody>
      </p:sp>
      <p:sp>
        <p:nvSpPr>
          <p:cNvPr id="20" name="Shape 17"/>
          <p:cNvSpPr/>
          <p:nvPr/>
        </p:nvSpPr>
        <p:spPr>
          <a:xfrm>
            <a:off x="6400800" y="1463040"/>
            <a:ext cx="5120640" cy="4754880"/>
          </a:xfrm>
          <a:prstGeom prst="roundRect">
            <a:avLst>
              <a:gd name="adj" fmla="val 1154"/>
            </a:avLst>
          </a:prstGeom>
          <a:solidFill>
            <a:srgbClr val="0B2545"/>
          </a:solidFill>
          <a:ln/>
          <a:effectLst>
            <a:outerShdw blurRad="101600" dist="25400" dir="5400000" algn="bl" rotWithShape="0">
              <a:srgbClr val="000000">
                <a:alpha val="15000"/>
              </a:srgbClr>
            </a:outerShdw>
          </a:effectLst>
        </p:spPr>
      </p:sp>
      <p:sp>
        <p:nvSpPr>
          <p:cNvPr id="21" name="Shape 18"/>
          <p:cNvSpPr/>
          <p:nvPr/>
        </p:nvSpPr>
        <p:spPr>
          <a:xfrm>
            <a:off x="6675120" y="1737360"/>
            <a:ext cx="548640" cy="548640"/>
          </a:xfrm>
          <a:prstGeom prst="ellipse">
            <a:avLst/>
          </a:prstGeom>
          <a:solidFill>
            <a:srgbClr val="8FE3D9"/>
          </a:solidFill>
          <a:ln/>
        </p:spPr>
      </p:sp>
      <p:pic>
        <p:nvPicPr>
          <p:cNvPr id="22" name="Image 1" descr="preencoded.png"/>
          <p:cNvPicPr>
            <a:picLocks noChangeAspect="1"/>
          </p:cNvPicPr>
          <p:nvPr/>
        </p:nvPicPr>
        <p:blipFill>
          <a:blip r:embed="rId4"/>
          <a:stretch>
            <a:fillRect/>
          </a:stretch>
        </p:blipFill>
        <p:spPr>
          <a:xfrm>
            <a:off x="6798564" y="1860804"/>
            <a:ext cx="301752" cy="301752"/>
          </a:xfrm>
          <a:prstGeom prst="rect">
            <a:avLst/>
          </a:prstGeom>
        </p:spPr>
      </p:pic>
      <p:sp>
        <p:nvSpPr>
          <p:cNvPr id="23" name="Text 19"/>
          <p:cNvSpPr/>
          <p:nvPr/>
        </p:nvSpPr>
        <p:spPr>
          <a:xfrm>
            <a:off x="7360920" y="1828800"/>
            <a:ext cx="39319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Controlled Input Pattern</a:t>
            </a:r>
            <a:endParaRPr lang="en-US" sz="1500" dirty="0"/>
          </a:p>
        </p:txBody>
      </p:sp>
      <p:sp>
        <p:nvSpPr>
          <p:cNvPr id="24" name="Shape 20"/>
          <p:cNvSpPr/>
          <p:nvPr/>
        </p:nvSpPr>
        <p:spPr>
          <a:xfrm>
            <a:off x="6675120" y="2331720"/>
            <a:ext cx="4572000" cy="3611880"/>
          </a:xfrm>
          <a:prstGeom prst="roundRect">
            <a:avLst>
              <a:gd name="adj" fmla="val 1266"/>
            </a:avLst>
          </a:prstGeom>
          <a:solidFill>
            <a:srgbClr val="0A1E38"/>
          </a:solidFill>
          <a:ln/>
        </p:spPr>
      </p:sp>
      <p:sp>
        <p:nvSpPr>
          <p:cNvPr id="25" name="Text 21"/>
          <p:cNvSpPr/>
          <p:nvPr/>
        </p:nvSpPr>
        <p:spPr>
          <a:xfrm>
            <a:off x="6858000" y="2468880"/>
            <a:ext cx="4206240" cy="3383280"/>
          </a:xfrm>
          <a:prstGeom prst="rect">
            <a:avLst/>
          </a:prstGeom>
          <a:noFill/>
          <a:ln/>
        </p:spPr>
        <p:txBody>
          <a:bodyPr wrap="square" rtlCol="0" anchor="ctr"/>
          <a:lstStyle/>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const [email, setEmail] = useState('');</a:t>
            </a:r>
            <a:endParaRPr lang="en-US" sz="1100" dirty="0"/>
          </a:p>
          <a:p>
            <a:pPr marL="0" indent="0">
              <a:lnSpc>
                <a:spcPct val="120000"/>
              </a:lnSpc>
              <a:buNone/>
            </a:pP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&lt;input</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  value={email}</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  onChange={(e) =&gt;</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    setEmail(e.target.value)}</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/&gt;</a:t>
            </a:r>
            <a:endParaRPr lang="en-US" sz="1100" dirty="0"/>
          </a:p>
          <a:p>
            <a:pPr marL="0" indent="0">
              <a:lnSpc>
                <a:spcPct val="120000"/>
              </a:lnSpc>
              <a:buNone/>
            </a:pP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 Validated on submit:</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if (!email.includes('@')) {</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  setError('Invalid email');</a:t>
            </a:r>
            <a:endParaRPr lang="en-US" sz="1100" dirty="0"/>
          </a:p>
          <a:p>
            <a:pPr marL="0" indent="0">
              <a:lnSpc>
                <a:spcPct val="120000"/>
              </a:lnSpc>
              <a:buNone/>
            </a:pPr>
            <a:r>
              <a:rPr lang="en-US" sz="1100" dirty="0">
                <a:solidFill>
                  <a:srgbClr val="D7E4F0"/>
                </a:solidFill>
                <a:latin typeface="Courier New" pitchFamily="34" charset="0"/>
                <a:ea typeface="Courier New" pitchFamily="34" charset="-122"/>
                <a:cs typeface="Courier New" pitchFamily="34" charset="-120"/>
              </a:rPr>
              <a:t>}</a:t>
            </a:r>
            <a:endParaRPr lang="en-US" sz="1100" dirty="0"/>
          </a:p>
        </p:txBody>
      </p:sp>
      <p:sp>
        <p:nvSpPr>
          <p:cNvPr id="26" name="Text 22"/>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7" name="Text 23"/>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Routing &amp; Protected Routes</a:t>
            </a:r>
            <a:endParaRPr lang="en-US" sz="2800" dirty="0"/>
          </a:p>
        </p:txBody>
      </p:sp>
      <p:sp>
        <p:nvSpPr>
          <p:cNvPr id="3" name="Text 1"/>
          <p:cNvSpPr/>
          <p:nvPr/>
        </p:nvSpPr>
        <p:spPr>
          <a:xfrm>
            <a:off x="640080" y="941832"/>
            <a:ext cx="82296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SPA navigation engineering using React Router DOM (CO5)</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6400800" cy="4507992"/>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84048">
                <a:tc>
                  <a:txBody>
                    <a:bodyPr/>
                    <a:lstStyle/>
                    <a:p>
                      <a:pPr marL="0" indent="0">
                        <a:buNone/>
                      </a:pPr>
                      <a:r>
                        <a:rPr lang="en-US" sz="1150" b="1" dirty="0">
                          <a:solidFill>
                            <a:srgbClr val="FFFFFF"/>
                          </a:solidFill>
                        </a:rPr>
                        <a:t>Route</a:t>
                      </a:r>
                      <a:endParaRPr lang="en-US" sz="11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0B2545"/>
                    </a:solidFill>
                  </a:tcPr>
                </a:tc>
                <a:tc>
                  <a:txBody>
                    <a:bodyPr/>
                    <a:lstStyle/>
                    <a:p>
                      <a:pPr marL="0" indent="0">
                        <a:buNone/>
                      </a:pPr>
                      <a:r>
                        <a:rPr lang="en-US" sz="1150" b="1" dirty="0">
                          <a:solidFill>
                            <a:srgbClr val="FFFFFF"/>
                          </a:solidFill>
                        </a:rPr>
                        <a:t>Component</a:t>
                      </a:r>
                      <a:endParaRPr lang="en-US" sz="11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0B2545"/>
                    </a:solidFill>
                  </a:tcPr>
                </a:tc>
                <a:tc>
                  <a:txBody>
                    <a:bodyPr/>
                    <a:lstStyle/>
                    <a:p>
                      <a:pPr marL="0" indent="0" algn="ctr">
                        <a:buNone/>
                      </a:pPr>
                      <a:r>
                        <a:rPr lang="en-US" sz="1150" b="1" dirty="0">
                          <a:solidFill>
                            <a:srgbClr val="FFFFFF"/>
                          </a:solidFill>
                        </a:rPr>
                        <a:t>Access</a:t>
                      </a:r>
                      <a:endParaRPr lang="en-US" sz="11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dirty="0">
                          <a:solidFill>
                            <a:srgbClr val="16243A"/>
                          </a:solidFill>
                        </a:rPr>
                        <a:t>LoginPage</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C7C73"/>
                          </a:solidFill>
                        </a:rPr>
                        <a:t>Public</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/signup</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dirty="0">
                          <a:solidFill>
                            <a:srgbClr val="16243A"/>
                          </a:solidFill>
                        </a:rPr>
                        <a:t>SignupPage</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lgn="ctr">
                        <a:buNone/>
                      </a:pPr>
                      <a:r>
                        <a:rPr lang="en-US" sz="1050" b="1" dirty="0">
                          <a:solidFill>
                            <a:srgbClr val="0C7C73"/>
                          </a:solidFill>
                        </a:rPr>
                        <a:t>Public</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2"/>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/dashboard</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dirty="0">
                          <a:solidFill>
                            <a:srgbClr val="16243A"/>
                          </a:solidFill>
                        </a:rPr>
                        <a:t>Dashboard</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/check-score</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dirty="0">
                          <a:solidFill>
                            <a:srgbClr val="16243A"/>
                          </a:solidFill>
                        </a:rPr>
                        <a:t>CheckScore</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4"/>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/history</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dirty="0">
                          <a:solidFill>
                            <a:srgbClr val="16243A"/>
                          </a:solidFill>
                        </a:rPr>
                        <a:t>History</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/dispute</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dirty="0">
                          <a:solidFill>
                            <a:srgbClr val="16243A"/>
                          </a:solidFill>
                        </a:rPr>
                        <a:t>DisputeForm</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6"/>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/tips</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dirty="0">
                          <a:solidFill>
                            <a:srgbClr val="16243A"/>
                          </a:solidFill>
                        </a:rPr>
                        <a:t>ImprovementTips</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/eligibility</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dirty="0">
                          <a:solidFill>
                            <a:srgbClr val="16243A"/>
                          </a:solidFill>
                        </a:rPr>
                        <a:t>EligibilityHint</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08"/>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/notifications</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dirty="0">
                          <a:solidFill>
                            <a:srgbClr val="16243A"/>
                          </a:solidFill>
                        </a:rPr>
                        <a:t>Notifications</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/admin</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buNone/>
                      </a:pPr>
                      <a:r>
                        <a:rPr lang="en-US" sz="1100" dirty="0">
                          <a:solidFill>
                            <a:srgbClr val="16243A"/>
                          </a:solidFill>
                        </a:rPr>
                        <a:t>AdminPanel</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tc>
                  <a:txBody>
                    <a:bodyPr/>
                    <a:lstStyle/>
                    <a:p>
                      <a:pPr marL="0" indent="0" algn="ctr">
                        <a:buNone/>
                      </a:pPr>
                      <a:r>
                        <a:rPr lang="en-US" sz="1050" b="1" dirty="0">
                          <a:solidFill>
                            <a:srgbClr val="B85042"/>
                          </a:solidFill>
                        </a:rPr>
                        <a:t>Admin only</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EFF7F6"/>
                    </a:solidFill>
                  </a:tcPr>
                </a:tc>
                <a:extLst>
                  <a:ext uri="{0D108BD9-81ED-4DB2-BD59-A6C34878D82A}">
                    <a16:rowId xmlns:a16="http://schemas.microsoft.com/office/drawing/2014/main" val="10010"/>
                  </a:ext>
                </a:extLst>
              </a:tr>
              <a:tr h="374904">
                <a:tc>
                  <a:txBody>
                    <a:bodyPr/>
                    <a:lstStyle/>
                    <a:p>
                      <a:pPr marL="0" indent="0">
                        <a:buNone/>
                      </a:pPr>
                      <a:r>
                        <a:rPr lang="en-US" sz="1100" dirty="0">
                          <a:solidFill>
                            <a:srgbClr val="16243A"/>
                          </a:solidFill>
                          <a:latin typeface="Courier New" pitchFamily="34" charset="0"/>
                          <a:ea typeface="Courier New" pitchFamily="34" charset="-122"/>
                          <a:cs typeface="Courier New" pitchFamily="34" charset="-120"/>
                        </a:rPr>
                        <a:t>/export</a:t>
                      </a:r>
                      <a:endParaRPr lang="en-US" sz="1100" dirty="0">
                        <a:latin typeface="Courier New" charset="0"/>
                        <a:ea typeface="Courier New" charset="0"/>
                        <a:cs typeface="Courier New" charset="0"/>
                      </a:endParaRPr>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buNone/>
                      </a:pPr>
                      <a:r>
                        <a:rPr lang="en-US" sz="1100" dirty="0">
                          <a:solidFill>
                            <a:srgbClr val="16243A"/>
                          </a:solidFill>
                        </a:rPr>
                        <a:t>ExportReport</a:t>
                      </a:r>
                      <a:endParaRPr lang="en-US" sz="110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C7080"/>
                          </a:solidFill>
                        </a:rPr>
                        <a:t>Protected</a:t>
                      </a:r>
                      <a:endParaRPr lang="en-US" sz="1050" dirty="0"/>
                    </a:p>
                  </a:txBody>
                  <a:tcPr anchor="ctr">
                    <a:lnL w="6350" cap="flat" cmpd="sng" algn="ctr">
                      <a:solidFill>
                        <a:srgbClr val="DCE7E6"/>
                      </a:solidFill>
                      <a:prstDash val="solid"/>
                      <a:round/>
                      <a:headEnd type="none" w="med" len="med"/>
                      <a:tailEnd type="none" w="med" len="med"/>
                    </a:lnL>
                    <a:lnR w="6350" cap="flat" cmpd="sng" algn="ctr">
                      <a:solidFill>
                        <a:srgbClr val="DCE7E6"/>
                      </a:solidFill>
                      <a:prstDash val="solid"/>
                      <a:round/>
                      <a:headEnd type="none" w="med" len="med"/>
                      <a:tailEnd type="none" w="med" len="med"/>
                    </a:lnR>
                    <a:lnT w="6350" cap="flat" cmpd="sng" algn="ctr">
                      <a:solidFill>
                        <a:srgbClr val="DCE7E6"/>
                      </a:solidFill>
                      <a:prstDash val="solid"/>
                      <a:round/>
                      <a:headEnd type="none" w="med" len="med"/>
                      <a:tailEnd type="none" w="med" len="med"/>
                    </a:lnT>
                    <a:lnB w="6350" cap="flat" cmpd="sng" algn="ctr">
                      <a:solidFill>
                        <a:srgbClr val="DCE7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Shape 2"/>
          <p:cNvSpPr/>
          <p:nvPr/>
        </p:nvSpPr>
        <p:spPr>
          <a:xfrm>
            <a:off x="7315200" y="1463040"/>
            <a:ext cx="4206240" cy="4754880"/>
          </a:xfrm>
          <a:prstGeom prst="roundRect">
            <a:avLst>
              <a:gd name="adj" fmla="val 1304"/>
            </a:avLst>
          </a:prstGeom>
          <a:solidFill>
            <a:srgbClr val="0B2545"/>
          </a:solidFill>
          <a:ln/>
          <a:effectLst>
            <a:outerShdw blurRad="101600" dist="25400" dir="5400000" algn="bl" rotWithShape="0">
              <a:srgbClr val="000000">
                <a:alpha val="15000"/>
              </a:srgbClr>
            </a:outerShdw>
          </a:effectLst>
        </p:spPr>
      </p:sp>
      <p:sp>
        <p:nvSpPr>
          <p:cNvPr id="6" name="Shape 3"/>
          <p:cNvSpPr/>
          <p:nvPr/>
        </p:nvSpPr>
        <p:spPr>
          <a:xfrm>
            <a:off x="7589520" y="1737360"/>
            <a:ext cx="548640" cy="548640"/>
          </a:xfrm>
          <a:prstGeom prst="ellipse">
            <a:avLst/>
          </a:prstGeom>
          <a:solidFill>
            <a:srgbClr val="8FE3D9"/>
          </a:solidFill>
          <a:ln/>
        </p:spPr>
      </p:sp>
      <p:pic>
        <p:nvPicPr>
          <p:cNvPr id="7" name="Image 0" descr="preencoded.png"/>
          <p:cNvPicPr>
            <a:picLocks noChangeAspect="1"/>
          </p:cNvPicPr>
          <p:nvPr/>
        </p:nvPicPr>
        <p:blipFill>
          <a:blip r:embed="rId3"/>
          <a:stretch>
            <a:fillRect/>
          </a:stretch>
        </p:blipFill>
        <p:spPr>
          <a:xfrm>
            <a:off x="7712964" y="1860804"/>
            <a:ext cx="301752" cy="301752"/>
          </a:xfrm>
          <a:prstGeom prst="rect">
            <a:avLst/>
          </a:prstGeom>
        </p:spPr>
      </p:pic>
      <p:sp>
        <p:nvSpPr>
          <p:cNvPr id="8" name="Text 4"/>
          <p:cNvSpPr/>
          <p:nvPr/>
        </p:nvSpPr>
        <p:spPr>
          <a:xfrm>
            <a:off x="8275320" y="1828800"/>
            <a:ext cx="31089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Protection Works</a:t>
            </a:r>
            <a:endParaRPr lang="en-US" sz="1400" dirty="0"/>
          </a:p>
        </p:txBody>
      </p:sp>
      <p:sp>
        <p:nvSpPr>
          <p:cNvPr id="9" name="Shape 5"/>
          <p:cNvSpPr/>
          <p:nvPr/>
        </p:nvSpPr>
        <p:spPr>
          <a:xfrm>
            <a:off x="7589520" y="2331720"/>
            <a:ext cx="3657600" cy="1783080"/>
          </a:xfrm>
          <a:prstGeom prst="roundRect">
            <a:avLst>
              <a:gd name="adj" fmla="val 2564"/>
            </a:avLst>
          </a:prstGeom>
          <a:solidFill>
            <a:srgbClr val="0A1E38"/>
          </a:solidFill>
          <a:ln/>
        </p:spPr>
      </p:sp>
      <p:sp>
        <p:nvSpPr>
          <p:cNvPr id="10" name="Text 6"/>
          <p:cNvSpPr/>
          <p:nvPr/>
        </p:nvSpPr>
        <p:spPr>
          <a:xfrm>
            <a:off x="7726680" y="2423160"/>
            <a:ext cx="3383280" cy="1600200"/>
          </a:xfrm>
          <a:prstGeom prst="rect">
            <a:avLst/>
          </a:prstGeom>
          <a:noFill/>
          <a:ln/>
        </p:spPr>
        <p:txBody>
          <a:bodyPr wrap="square" rtlCol="0" anchor="ctr"/>
          <a:lstStyle/>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&lt;Route</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  path='/dashboard'</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  element={</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    user</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      ? &lt;Dashboard /&gt;</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      : &lt;Navigate to='/' /&gt;</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  }</a:t>
            </a:r>
            <a:endParaRPr lang="en-US" sz="1050" dirty="0"/>
          </a:p>
          <a:p>
            <a:pPr marL="0" indent="0">
              <a:lnSpc>
                <a:spcPct val="115000"/>
              </a:lnSpc>
              <a:buNone/>
            </a:pPr>
            <a:r>
              <a:rPr lang="en-US" sz="1050" dirty="0">
                <a:solidFill>
                  <a:srgbClr val="D7E4F0"/>
                </a:solidFill>
                <a:latin typeface="Courier New" pitchFamily="34" charset="0"/>
                <a:ea typeface="Courier New" pitchFamily="34" charset="-122"/>
                <a:cs typeface="Courier New" pitchFamily="34" charset="-120"/>
              </a:rPr>
              <a:t>/&gt;</a:t>
            </a:r>
            <a:endParaRPr lang="en-US" sz="1050" dirty="0"/>
          </a:p>
        </p:txBody>
      </p:sp>
      <p:sp>
        <p:nvSpPr>
          <p:cNvPr id="4" name="Text 7"/>
          <p:cNvSpPr/>
          <p:nvPr/>
        </p:nvSpPr>
        <p:spPr>
          <a:xfrm>
            <a:off x="7589520" y="4343400"/>
            <a:ext cx="3657600" cy="1691640"/>
          </a:xfrm>
          <a:prstGeom prst="rect">
            <a:avLst/>
          </a:prstGeom>
          <a:noFill/>
          <a:ln/>
        </p:spPr>
        <p:txBody>
          <a:bodyPr wrap="square" rtlCol="0" anchor="ctr"/>
          <a:lstStyle/>
          <a:p>
            <a:pPr marL="0" indent="0">
              <a:lnSpc>
                <a:spcPct val="130000"/>
              </a:lnSpc>
              <a:buNone/>
            </a:pPr>
            <a:r>
              <a:rPr lang="en-US" sz="1150" dirty="0">
                <a:solidFill>
                  <a:srgbClr val="C9D6E3"/>
                </a:solidFill>
                <a:latin typeface="Calibri" pitchFamily="34" charset="0"/>
                <a:ea typeface="Calibri" pitchFamily="34" charset="-122"/>
                <a:cs typeface="Calibri" pitchFamily="34" charset="-120"/>
              </a:rPr>
              <a:t>If no user is logged in, the route immediately redirects to the login page using React Router's Navigate component — preventing direct URL access to protected pages.</a:t>
            </a:r>
            <a:endParaRPr lang="en-US" sz="1150" dirty="0"/>
          </a:p>
        </p:txBody>
      </p:sp>
      <p:sp>
        <p:nvSpPr>
          <p:cNvPr id="12" name="Text 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13" name="Text 9"/>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Project Architecture</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Folder structure and data flow</a:t>
            </a:r>
            <a:endParaRPr lang="en-US" sz="1300" dirty="0"/>
          </a:p>
        </p:txBody>
      </p:sp>
      <p:sp>
        <p:nvSpPr>
          <p:cNvPr id="4" name="Shape 2"/>
          <p:cNvSpPr/>
          <p:nvPr/>
        </p:nvSpPr>
        <p:spPr>
          <a:xfrm>
            <a:off x="640080" y="1463040"/>
            <a:ext cx="4937760" cy="4754880"/>
          </a:xfrm>
          <a:prstGeom prst="roundRect">
            <a:avLst>
              <a:gd name="adj" fmla="val 1154"/>
            </a:avLst>
          </a:prstGeom>
          <a:solidFill>
            <a:srgbClr val="0B2545"/>
          </a:solidFill>
          <a:ln/>
          <a:effectLst>
            <a:outerShdw blurRad="101600" dist="25400" dir="5400000" algn="bl" rotWithShape="0">
              <a:srgbClr val="000000">
                <a:alpha val="15000"/>
              </a:srgbClr>
            </a:outerShdw>
          </a:effectLst>
        </p:spPr>
      </p:sp>
      <p:sp>
        <p:nvSpPr>
          <p:cNvPr id="5" name="Text 3"/>
          <p:cNvSpPr/>
          <p:nvPr/>
        </p:nvSpPr>
        <p:spPr>
          <a:xfrm>
            <a:off x="960120" y="1691640"/>
            <a:ext cx="4297680" cy="320040"/>
          </a:xfrm>
          <a:prstGeom prst="rect">
            <a:avLst/>
          </a:prstGeom>
          <a:noFill/>
          <a:ln/>
        </p:spPr>
        <p:txBody>
          <a:bodyPr wrap="square" rtlCol="0" anchor="ctr"/>
          <a:lstStyle/>
          <a:p>
            <a:pPr marL="0" indent="0">
              <a:buNone/>
            </a:pPr>
            <a:r>
              <a:rPr lang="en-US" sz="1400" b="1" dirty="0">
                <a:solidFill>
                  <a:srgbClr val="8FE3D9"/>
                </a:solidFill>
                <a:latin typeface="Courier New" pitchFamily="34" charset="0"/>
                <a:ea typeface="Courier New" pitchFamily="34" charset="-122"/>
                <a:cs typeface="Courier New" pitchFamily="34" charset="-120"/>
              </a:rPr>
              <a:t>src/</a:t>
            </a:r>
            <a:endParaRPr lang="en-US" sz="1400" dirty="0"/>
          </a:p>
        </p:txBody>
      </p:sp>
      <p:sp>
        <p:nvSpPr>
          <p:cNvPr id="6" name="Text 4"/>
          <p:cNvSpPr/>
          <p:nvPr/>
        </p:nvSpPr>
        <p:spPr>
          <a:xfrm>
            <a:off x="960120" y="2057400"/>
            <a:ext cx="4389120" cy="4023360"/>
          </a:xfrm>
          <a:prstGeom prst="rect">
            <a:avLst/>
          </a:prstGeom>
          <a:noFill/>
          <a:ln/>
        </p:spPr>
        <p:txBody>
          <a:bodyPr wrap="square" rtlCol="0" anchor="ctr"/>
          <a:lstStyle/>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context/</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UserContext.js</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components/</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Navbar.jsx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pages/</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LoginPage.jsx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SignupPage.jsx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Dashboard.jsx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CheckScore.jsx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History.jsx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DisputeForm.jsx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ImprovementTips.jsx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EligibilityHint.jsx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Notifications.jsx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AdminPanel.jsx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 ExportReport.jsx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App.jsx</a:t>
            </a:r>
            <a:endParaRPr lang="en-US" sz="1100" dirty="0"/>
          </a:p>
          <a:p>
            <a:pPr marL="0" indent="0">
              <a:lnSpc>
                <a:spcPct val="112000"/>
              </a:lnSpc>
              <a:buNone/>
            </a:pPr>
            <a:r>
              <a:rPr lang="en-US" sz="1100" dirty="0">
                <a:solidFill>
                  <a:srgbClr val="D7E4F0"/>
                </a:solidFill>
                <a:latin typeface="Courier New" pitchFamily="34" charset="0"/>
                <a:ea typeface="Courier New" pitchFamily="34" charset="-122"/>
                <a:cs typeface="Courier New" pitchFamily="34" charset="-120"/>
              </a:rPr>
              <a:t>└── App.css</a:t>
            </a:r>
            <a:endParaRPr lang="en-US" sz="1100" dirty="0"/>
          </a:p>
        </p:txBody>
      </p:sp>
      <p:sp>
        <p:nvSpPr>
          <p:cNvPr id="7" name="Text 5"/>
          <p:cNvSpPr/>
          <p:nvPr/>
        </p:nvSpPr>
        <p:spPr>
          <a:xfrm>
            <a:off x="5897880" y="1508760"/>
            <a:ext cx="5486400" cy="365760"/>
          </a:xfrm>
          <a:prstGeom prst="rect">
            <a:avLst/>
          </a:prstGeom>
          <a:noFill/>
          <a:ln/>
        </p:spPr>
        <p:txBody>
          <a:bodyPr wrap="square" rtlCol="0" anchor="ctr"/>
          <a:lstStyle/>
          <a:p>
            <a:pPr marL="0" indent="0">
              <a:buNone/>
            </a:pPr>
            <a:r>
              <a:rPr lang="en-US" sz="1600" b="1" dirty="0">
                <a:solidFill>
                  <a:srgbClr val="0B2545"/>
                </a:solidFill>
                <a:latin typeface="Cambria" pitchFamily="34" charset="0"/>
                <a:ea typeface="Cambria" pitchFamily="34" charset="-122"/>
                <a:cs typeface="Cambria" pitchFamily="34" charset="-120"/>
              </a:rPr>
              <a:t>Data Flow</a:t>
            </a:r>
            <a:endParaRPr lang="en-US" sz="1600" dirty="0"/>
          </a:p>
        </p:txBody>
      </p:sp>
      <p:sp>
        <p:nvSpPr>
          <p:cNvPr id="8" name="Shape 6"/>
          <p:cNvSpPr/>
          <p:nvPr/>
        </p:nvSpPr>
        <p:spPr>
          <a:xfrm>
            <a:off x="5897880" y="2011680"/>
            <a:ext cx="502920" cy="502920"/>
          </a:xfrm>
          <a:prstGeom prst="ellipse">
            <a:avLst/>
          </a:prstGeom>
          <a:solidFill>
            <a:srgbClr val="E6F5F3"/>
          </a:solidFill>
          <a:ln/>
        </p:spPr>
      </p:sp>
      <p:pic>
        <p:nvPicPr>
          <p:cNvPr id="9" name="Image 0" descr="preencoded.png"/>
          <p:cNvPicPr>
            <a:picLocks noChangeAspect="1"/>
          </p:cNvPicPr>
          <p:nvPr/>
        </p:nvPicPr>
        <p:blipFill>
          <a:blip r:embed="rId3"/>
          <a:stretch>
            <a:fillRect/>
          </a:stretch>
        </p:blipFill>
        <p:spPr>
          <a:xfrm>
            <a:off x="6011037" y="2124837"/>
            <a:ext cx="276606" cy="276606"/>
          </a:xfrm>
          <a:prstGeom prst="rect">
            <a:avLst/>
          </a:prstGeom>
        </p:spPr>
      </p:pic>
      <p:sp>
        <p:nvSpPr>
          <p:cNvPr id="10" name="Text 7"/>
          <p:cNvSpPr/>
          <p:nvPr/>
        </p:nvSpPr>
        <p:spPr>
          <a:xfrm>
            <a:off x="6583680" y="1993392"/>
            <a:ext cx="512064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User logs in</a:t>
            </a:r>
            <a:endParaRPr lang="en-US" sz="1300" dirty="0"/>
          </a:p>
        </p:txBody>
      </p:sp>
      <p:sp>
        <p:nvSpPr>
          <p:cNvPr id="11" name="Text 8"/>
          <p:cNvSpPr/>
          <p:nvPr/>
        </p:nvSpPr>
        <p:spPr>
          <a:xfrm>
            <a:off x="6583680" y="2304288"/>
            <a:ext cx="5120640" cy="50292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Credentials handled in LoginPage, stored in UserContext</a:t>
            </a:r>
            <a:endParaRPr lang="en-US" sz="1050" dirty="0"/>
          </a:p>
        </p:txBody>
      </p:sp>
      <p:sp>
        <p:nvSpPr>
          <p:cNvPr id="12" name="Shape 9"/>
          <p:cNvSpPr/>
          <p:nvPr/>
        </p:nvSpPr>
        <p:spPr>
          <a:xfrm>
            <a:off x="6144768" y="2542032"/>
            <a:ext cx="0" cy="502920"/>
          </a:xfrm>
          <a:prstGeom prst="line">
            <a:avLst/>
          </a:prstGeom>
          <a:noFill/>
          <a:ln w="19050">
            <a:solidFill>
              <a:srgbClr val="C7DAD8"/>
            </a:solidFill>
            <a:prstDash val="dash"/>
          </a:ln>
        </p:spPr>
      </p:sp>
      <p:sp>
        <p:nvSpPr>
          <p:cNvPr id="13" name="Shape 10"/>
          <p:cNvSpPr/>
          <p:nvPr/>
        </p:nvSpPr>
        <p:spPr>
          <a:xfrm>
            <a:off x="5897880" y="3044952"/>
            <a:ext cx="502920" cy="502920"/>
          </a:xfrm>
          <a:prstGeom prst="ellipse">
            <a:avLst/>
          </a:prstGeom>
          <a:solidFill>
            <a:srgbClr val="E6F5F3"/>
          </a:solidFill>
          <a:ln/>
        </p:spPr>
      </p:sp>
      <p:pic>
        <p:nvPicPr>
          <p:cNvPr id="14" name="Image 1" descr="preencoded.png"/>
          <p:cNvPicPr>
            <a:picLocks noChangeAspect="1"/>
          </p:cNvPicPr>
          <p:nvPr/>
        </p:nvPicPr>
        <p:blipFill>
          <a:blip r:embed="rId4"/>
          <a:stretch>
            <a:fillRect/>
          </a:stretch>
        </p:blipFill>
        <p:spPr>
          <a:xfrm>
            <a:off x="6011037" y="3158109"/>
            <a:ext cx="276606" cy="276606"/>
          </a:xfrm>
          <a:prstGeom prst="rect">
            <a:avLst/>
          </a:prstGeom>
        </p:spPr>
      </p:pic>
      <p:sp>
        <p:nvSpPr>
          <p:cNvPr id="15" name="Text 11"/>
          <p:cNvSpPr/>
          <p:nvPr/>
        </p:nvSpPr>
        <p:spPr>
          <a:xfrm>
            <a:off x="6583680" y="3026664"/>
            <a:ext cx="512064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Context shares state</a:t>
            </a:r>
            <a:endParaRPr lang="en-US" sz="1300" dirty="0"/>
          </a:p>
        </p:txBody>
      </p:sp>
      <p:sp>
        <p:nvSpPr>
          <p:cNvPr id="16" name="Text 12"/>
          <p:cNvSpPr/>
          <p:nvPr/>
        </p:nvSpPr>
        <p:spPr>
          <a:xfrm>
            <a:off x="6583680" y="3337560"/>
            <a:ext cx="5120640" cy="50292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UserContext provides user, scoreHistory, disputes, notifications app-wide</a:t>
            </a:r>
            <a:endParaRPr lang="en-US" sz="1050" dirty="0"/>
          </a:p>
        </p:txBody>
      </p:sp>
      <p:sp>
        <p:nvSpPr>
          <p:cNvPr id="17" name="Shape 13"/>
          <p:cNvSpPr/>
          <p:nvPr/>
        </p:nvSpPr>
        <p:spPr>
          <a:xfrm>
            <a:off x="6144768" y="3575304"/>
            <a:ext cx="0" cy="502920"/>
          </a:xfrm>
          <a:prstGeom prst="line">
            <a:avLst/>
          </a:prstGeom>
          <a:noFill/>
          <a:ln w="19050">
            <a:solidFill>
              <a:srgbClr val="C7DAD8"/>
            </a:solidFill>
            <a:prstDash val="dash"/>
          </a:ln>
        </p:spPr>
      </p:sp>
      <p:sp>
        <p:nvSpPr>
          <p:cNvPr id="18" name="Shape 14"/>
          <p:cNvSpPr/>
          <p:nvPr/>
        </p:nvSpPr>
        <p:spPr>
          <a:xfrm>
            <a:off x="5897880" y="4078224"/>
            <a:ext cx="502920" cy="502920"/>
          </a:xfrm>
          <a:prstGeom prst="ellipse">
            <a:avLst/>
          </a:prstGeom>
          <a:solidFill>
            <a:srgbClr val="E6F5F3"/>
          </a:solidFill>
          <a:ln/>
        </p:spPr>
      </p:sp>
      <p:pic>
        <p:nvPicPr>
          <p:cNvPr id="19" name="Image 2" descr="preencoded.png"/>
          <p:cNvPicPr>
            <a:picLocks noChangeAspect="1"/>
          </p:cNvPicPr>
          <p:nvPr/>
        </p:nvPicPr>
        <p:blipFill>
          <a:blip r:embed="rId5"/>
          <a:stretch>
            <a:fillRect/>
          </a:stretch>
        </p:blipFill>
        <p:spPr>
          <a:xfrm>
            <a:off x="6011037" y="4191381"/>
            <a:ext cx="276606" cy="276606"/>
          </a:xfrm>
          <a:prstGeom prst="rect">
            <a:avLst/>
          </a:prstGeom>
        </p:spPr>
      </p:pic>
      <p:sp>
        <p:nvSpPr>
          <p:cNvPr id="20" name="Text 15"/>
          <p:cNvSpPr/>
          <p:nvPr/>
        </p:nvSpPr>
        <p:spPr>
          <a:xfrm>
            <a:off x="6583680" y="4059936"/>
            <a:ext cx="512064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Check Score</a:t>
            </a:r>
            <a:endParaRPr lang="en-US" sz="1300" dirty="0"/>
          </a:p>
        </p:txBody>
      </p:sp>
      <p:sp>
        <p:nvSpPr>
          <p:cNvPr id="21" name="Text 16"/>
          <p:cNvSpPr/>
          <p:nvPr/>
        </p:nvSpPr>
        <p:spPr>
          <a:xfrm>
            <a:off x="6583680" y="4370832"/>
            <a:ext cx="5120640" cy="50292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CheckScore.jsx generates a new score → added to scoreHistory via setScoreHistory</a:t>
            </a:r>
            <a:endParaRPr lang="en-US" sz="1050" dirty="0"/>
          </a:p>
        </p:txBody>
      </p:sp>
      <p:sp>
        <p:nvSpPr>
          <p:cNvPr id="22" name="Shape 17"/>
          <p:cNvSpPr/>
          <p:nvPr/>
        </p:nvSpPr>
        <p:spPr>
          <a:xfrm>
            <a:off x="6144768" y="4608576"/>
            <a:ext cx="0" cy="502920"/>
          </a:xfrm>
          <a:prstGeom prst="line">
            <a:avLst/>
          </a:prstGeom>
          <a:noFill/>
          <a:ln w="19050">
            <a:solidFill>
              <a:srgbClr val="C7DAD8"/>
            </a:solidFill>
            <a:prstDash val="dash"/>
          </a:ln>
        </p:spPr>
      </p:sp>
      <p:sp>
        <p:nvSpPr>
          <p:cNvPr id="23" name="Shape 18"/>
          <p:cNvSpPr/>
          <p:nvPr/>
        </p:nvSpPr>
        <p:spPr>
          <a:xfrm>
            <a:off x="5897880" y="5111496"/>
            <a:ext cx="502920" cy="502920"/>
          </a:xfrm>
          <a:prstGeom prst="ellipse">
            <a:avLst/>
          </a:prstGeom>
          <a:solidFill>
            <a:srgbClr val="E6F5F3"/>
          </a:solidFill>
          <a:ln/>
        </p:spPr>
      </p:sp>
      <p:pic>
        <p:nvPicPr>
          <p:cNvPr id="24" name="Image 3" descr="preencoded.png"/>
          <p:cNvPicPr>
            <a:picLocks noChangeAspect="1"/>
          </p:cNvPicPr>
          <p:nvPr/>
        </p:nvPicPr>
        <p:blipFill>
          <a:blip r:embed="rId6"/>
          <a:stretch>
            <a:fillRect/>
          </a:stretch>
        </p:blipFill>
        <p:spPr>
          <a:xfrm>
            <a:off x="6011037" y="5224653"/>
            <a:ext cx="276606" cy="276606"/>
          </a:xfrm>
          <a:prstGeom prst="rect">
            <a:avLst/>
          </a:prstGeom>
        </p:spPr>
      </p:pic>
      <p:sp>
        <p:nvSpPr>
          <p:cNvPr id="25" name="Text 19"/>
          <p:cNvSpPr/>
          <p:nvPr/>
        </p:nvSpPr>
        <p:spPr>
          <a:xfrm>
            <a:off x="6583680" y="5093208"/>
            <a:ext cx="512064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Dashboard &amp; History update</a:t>
            </a:r>
            <a:endParaRPr lang="en-US" sz="1300" dirty="0"/>
          </a:p>
        </p:txBody>
      </p:sp>
      <p:sp>
        <p:nvSpPr>
          <p:cNvPr id="26" name="Text 20"/>
          <p:cNvSpPr/>
          <p:nvPr/>
        </p:nvSpPr>
        <p:spPr>
          <a:xfrm>
            <a:off x="6583680" y="5404104"/>
            <a:ext cx="5120640" cy="50292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All pages reading scoreHistory automatically re-render with the latest data</a:t>
            </a:r>
            <a:endParaRPr lang="en-US" sz="1050" dirty="0"/>
          </a:p>
        </p:txBody>
      </p:sp>
      <p:sp>
        <p:nvSpPr>
          <p:cNvPr id="27" name="Text 21"/>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8" name="Text 22"/>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React Concepts Applied</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Core hooks and patterns used throughout the codebase</a:t>
            </a:r>
            <a:endParaRPr lang="en-US" sz="1300" dirty="0"/>
          </a:p>
        </p:txBody>
      </p:sp>
      <p:sp>
        <p:nvSpPr>
          <p:cNvPr id="4" name="Shape 2"/>
          <p:cNvSpPr/>
          <p:nvPr/>
        </p:nvSpPr>
        <p:spPr>
          <a:xfrm>
            <a:off x="617220" y="1508760"/>
            <a:ext cx="3429000" cy="1828800"/>
          </a:xfrm>
          <a:prstGeom prst="roundRect">
            <a:avLst>
              <a:gd name="adj" fmla="val 3500"/>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891540" y="1764792"/>
            <a:ext cx="548640" cy="54864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14984" y="1888236"/>
            <a:ext cx="301752" cy="301752"/>
          </a:xfrm>
          <a:prstGeom prst="rect">
            <a:avLst/>
          </a:prstGeom>
        </p:spPr>
      </p:pic>
      <p:sp>
        <p:nvSpPr>
          <p:cNvPr id="7" name="Text 4"/>
          <p:cNvSpPr/>
          <p:nvPr/>
        </p:nvSpPr>
        <p:spPr>
          <a:xfrm>
            <a:off x="1577340" y="1783080"/>
            <a:ext cx="2240280" cy="50292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useState</a:t>
            </a:r>
            <a:endParaRPr lang="en-US" sz="1400" dirty="0"/>
          </a:p>
        </p:txBody>
      </p:sp>
      <p:sp>
        <p:nvSpPr>
          <p:cNvPr id="8" name="Text 5"/>
          <p:cNvSpPr/>
          <p:nvPr/>
        </p:nvSpPr>
        <p:spPr>
          <a:xfrm>
            <a:off x="891540" y="2423160"/>
            <a:ext cx="2880360" cy="82296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Manages form inputs, validation errors, and generated results across every page.</a:t>
            </a:r>
            <a:endParaRPr lang="en-US" sz="1050" dirty="0"/>
          </a:p>
        </p:txBody>
      </p:sp>
      <p:sp>
        <p:nvSpPr>
          <p:cNvPr id="9" name="Shape 6"/>
          <p:cNvSpPr/>
          <p:nvPr/>
        </p:nvSpPr>
        <p:spPr>
          <a:xfrm>
            <a:off x="4366260" y="1508760"/>
            <a:ext cx="3429000" cy="1828800"/>
          </a:xfrm>
          <a:prstGeom prst="roundRect">
            <a:avLst>
              <a:gd name="adj" fmla="val 3500"/>
            </a:avLst>
          </a:prstGeom>
          <a:solidFill>
            <a:srgbClr val="FFFFFF"/>
          </a:solidFill>
          <a:ln/>
          <a:effectLst>
            <a:outerShdw blurRad="101600" dist="25400" dir="5400000" algn="bl" rotWithShape="0">
              <a:srgbClr val="000000">
                <a:alpha val="12000"/>
              </a:srgbClr>
            </a:outerShdw>
          </a:effectLst>
        </p:spPr>
      </p:sp>
      <p:sp>
        <p:nvSpPr>
          <p:cNvPr id="10" name="Shape 7"/>
          <p:cNvSpPr/>
          <p:nvPr/>
        </p:nvSpPr>
        <p:spPr>
          <a:xfrm>
            <a:off x="4640580" y="1764792"/>
            <a:ext cx="548640" cy="548640"/>
          </a:xfrm>
          <a:prstGeom prst="ellipse">
            <a:avLst/>
          </a:prstGeom>
          <a:solidFill>
            <a:srgbClr val="E6F5F3"/>
          </a:solidFill>
          <a:ln/>
        </p:spPr>
      </p:sp>
      <p:pic>
        <p:nvPicPr>
          <p:cNvPr id="11" name="Image 1" descr="preencoded.png"/>
          <p:cNvPicPr>
            <a:picLocks noChangeAspect="1"/>
          </p:cNvPicPr>
          <p:nvPr/>
        </p:nvPicPr>
        <p:blipFill>
          <a:blip r:embed="rId4"/>
          <a:stretch>
            <a:fillRect/>
          </a:stretch>
        </p:blipFill>
        <p:spPr>
          <a:xfrm>
            <a:off x="4764024" y="1888236"/>
            <a:ext cx="301752" cy="301752"/>
          </a:xfrm>
          <a:prstGeom prst="rect">
            <a:avLst/>
          </a:prstGeom>
        </p:spPr>
      </p:pic>
      <p:sp>
        <p:nvSpPr>
          <p:cNvPr id="12" name="Text 8"/>
          <p:cNvSpPr/>
          <p:nvPr/>
        </p:nvSpPr>
        <p:spPr>
          <a:xfrm>
            <a:off x="5326380" y="1783080"/>
            <a:ext cx="2240280" cy="50292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useContext</a:t>
            </a:r>
            <a:endParaRPr lang="en-US" sz="1400" dirty="0"/>
          </a:p>
        </p:txBody>
      </p:sp>
      <p:sp>
        <p:nvSpPr>
          <p:cNvPr id="13" name="Text 9"/>
          <p:cNvSpPr/>
          <p:nvPr/>
        </p:nvSpPr>
        <p:spPr>
          <a:xfrm>
            <a:off x="4640580" y="2423160"/>
            <a:ext cx="2880360" cy="82296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Reads and updates global user, score, dispute, and notification data without prop drilling.</a:t>
            </a:r>
            <a:endParaRPr lang="en-US" sz="1050" dirty="0"/>
          </a:p>
        </p:txBody>
      </p:sp>
      <p:sp>
        <p:nvSpPr>
          <p:cNvPr id="14" name="Shape 10"/>
          <p:cNvSpPr/>
          <p:nvPr/>
        </p:nvSpPr>
        <p:spPr>
          <a:xfrm>
            <a:off x="8115300" y="1508760"/>
            <a:ext cx="3429000" cy="1828800"/>
          </a:xfrm>
          <a:prstGeom prst="roundRect">
            <a:avLst>
              <a:gd name="adj" fmla="val 3500"/>
            </a:avLst>
          </a:prstGeom>
          <a:solidFill>
            <a:srgbClr val="FFFFFF"/>
          </a:solidFill>
          <a:ln/>
          <a:effectLst>
            <a:outerShdw blurRad="101600" dist="25400" dir="5400000" algn="bl" rotWithShape="0">
              <a:srgbClr val="000000">
                <a:alpha val="12000"/>
              </a:srgbClr>
            </a:outerShdw>
          </a:effectLst>
        </p:spPr>
      </p:sp>
      <p:sp>
        <p:nvSpPr>
          <p:cNvPr id="15" name="Shape 11"/>
          <p:cNvSpPr/>
          <p:nvPr/>
        </p:nvSpPr>
        <p:spPr>
          <a:xfrm>
            <a:off x="8389620" y="1764792"/>
            <a:ext cx="548640" cy="548640"/>
          </a:xfrm>
          <a:prstGeom prst="ellipse">
            <a:avLst/>
          </a:prstGeom>
          <a:solidFill>
            <a:srgbClr val="E6F5F3"/>
          </a:solidFill>
          <a:ln/>
        </p:spPr>
      </p:sp>
      <p:pic>
        <p:nvPicPr>
          <p:cNvPr id="16" name="Image 2" descr="preencoded.png"/>
          <p:cNvPicPr>
            <a:picLocks noChangeAspect="1"/>
          </p:cNvPicPr>
          <p:nvPr/>
        </p:nvPicPr>
        <p:blipFill>
          <a:blip r:embed="rId5"/>
          <a:stretch>
            <a:fillRect/>
          </a:stretch>
        </p:blipFill>
        <p:spPr>
          <a:xfrm>
            <a:off x="8513064" y="1888236"/>
            <a:ext cx="301752" cy="301752"/>
          </a:xfrm>
          <a:prstGeom prst="rect">
            <a:avLst/>
          </a:prstGeom>
        </p:spPr>
      </p:pic>
      <p:sp>
        <p:nvSpPr>
          <p:cNvPr id="17" name="Text 12"/>
          <p:cNvSpPr/>
          <p:nvPr/>
        </p:nvSpPr>
        <p:spPr>
          <a:xfrm>
            <a:off x="9075420" y="1783080"/>
            <a:ext cx="2240280" cy="50292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React Router</a:t>
            </a:r>
            <a:endParaRPr lang="en-US" sz="1400" dirty="0"/>
          </a:p>
        </p:txBody>
      </p:sp>
      <p:sp>
        <p:nvSpPr>
          <p:cNvPr id="18" name="Text 13"/>
          <p:cNvSpPr/>
          <p:nvPr/>
        </p:nvSpPr>
        <p:spPr>
          <a:xfrm>
            <a:off x="8389620" y="2423160"/>
            <a:ext cx="2880360" cy="82296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useNavigate and useLocation drive page transitions and active-link highlighting.</a:t>
            </a:r>
            <a:endParaRPr lang="en-US" sz="1050" dirty="0"/>
          </a:p>
        </p:txBody>
      </p:sp>
      <p:sp>
        <p:nvSpPr>
          <p:cNvPr id="19" name="Shape 14"/>
          <p:cNvSpPr/>
          <p:nvPr/>
        </p:nvSpPr>
        <p:spPr>
          <a:xfrm>
            <a:off x="617220" y="3657600"/>
            <a:ext cx="3429000" cy="1828800"/>
          </a:xfrm>
          <a:prstGeom prst="roundRect">
            <a:avLst>
              <a:gd name="adj" fmla="val 3500"/>
            </a:avLst>
          </a:prstGeom>
          <a:solidFill>
            <a:srgbClr val="FFFFFF"/>
          </a:solidFill>
          <a:ln/>
          <a:effectLst>
            <a:outerShdw blurRad="101600" dist="25400" dir="5400000" algn="bl" rotWithShape="0">
              <a:srgbClr val="000000">
                <a:alpha val="12000"/>
              </a:srgbClr>
            </a:outerShdw>
          </a:effectLst>
        </p:spPr>
      </p:sp>
      <p:sp>
        <p:nvSpPr>
          <p:cNvPr id="20" name="Shape 15"/>
          <p:cNvSpPr/>
          <p:nvPr/>
        </p:nvSpPr>
        <p:spPr>
          <a:xfrm>
            <a:off x="891540" y="3913632"/>
            <a:ext cx="548640" cy="548640"/>
          </a:xfrm>
          <a:prstGeom prst="ellipse">
            <a:avLst/>
          </a:prstGeom>
          <a:solidFill>
            <a:srgbClr val="E6F5F3"/>
          </a:solidFill>
          <a:ln/>
        </p:spPr>
      </p:sp>
      <p:pic>
        <p:nvPicPr>
          <p:cNvPr id="21" name="Image 3" descr="preencoded.png"/>
          <p:cNvPicPr>
            <a:picLocks noChangeAspect="1"/>
          </p:cNvPicPr>
          <p:nvPr/>
        </p:nvPicPr>
        <p:blipFill>
          <a:blip r:embed="rId6"/>
          <a:stretch>
            <a:fillRect/>
          </a:stretch>
        </p:blipFill>
        <p:spPr>
          <a:xfrm>
            <a:off x="1014984" y="4037076"/>
            <a:ext cx="301752" cy="301752"/>
          </a:xfrm>
          <a:prstGeom prst="rect">
            <a:avLst/>
          </a:prstGeom>
        </p:spPr>
      </p:pic>
      <p:sp>
        <p:nvSpPr>
          <p:cNvPr id="22" name="Text 16"/>
          <p:cNvSpPr/>
          <p:nvPr/>
        </p:nvSpPr>
        <p:spPr>
          <a:xfrm>
            <a:off x="1577340" y="3931920"/>
            <a:ext cx="2240280" cy="50292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Protected Routes</a:t>
            </a:r>
            <a:endParaRPr lang="en-US" sz="1400" dirty="0"/>
          </a:p>
        </p:txBody>
      </p:sp>
      <p:sp>
        <p:nvSpPr>
          <p:cNvPr id="23" name="Text 17"/>
          <p:cNvSpPr/>
          <p:nvPr/>
        </p:nvSpPr>
        <p:spPr>
          <a:xfrm>
            <a:off x="891540" y="4572000"/>
            <a:ext cx="2880360" cy="82296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Dashboard, Admin, and other inner pages redirect to login if no user is set.</a:t>
            </a:r>
            <a:endParaRPr lang="en-US" sz="1050" dirty="0"/>
          </a:p>
        </p:txBody>
      </p:sp>
      <p:sp>
        <p:nvSpPr>
          <p:cNvPr id="24" name="Shape 18"/>
          <p:cNvSpPr/>
          <p:nvPr/>
        </p:nvSpPr>
        <p:spPr>
          <a:xfrm>
            <a:off x="4366260" y="3657600"/>
            <a:ext cx="3429000" cy="1828800"/>
          </a:xfrm>
          <a:prstGeom prst="roundRect">
            <a:avLst>
              <a:gd name="adj" fmla="val 3500"/>
            </a:avLst>
          </a:prstGeom>
          <a:solidFill>
            <a:srgbClr val="FFFFFF"/>
          </a:solidFill>
          <a:ln/>
          <a:effectLst>
            <a:outerShdw blurRad="101600" dist="25400" dir="5400000" algn="bl" rotWithShape="0">
              <a:srgbClr val="000000">
                <a:alpha val="12000"/>
              </a:srgbClr>
            </a:outerShdw>
          </a:effectLst>
        </p:spPr>
      </p:sp>
      <p:sp>
        <p:nvSpPr>
          <p:cNvPr id="25" name="Shape 19"/>
          <p:cNvSpPr/>
          <p:nvPr/>
        </p:nvSpPr>
        <p:spPr>
          <a:xfrm>
            <a:off x="4640580" y="3913632"/>
            <a:ext cx="548640" cy="548640"/>
          </a:xfrm>
          <a:prstGeom prst="ellipse">
            <a:avLst/>
          </a:prstGeom>
          <a:solidFill>
            <a:srgbClr val="E6F5F3"/>
          </a:solidFill>
          <a:ln/>
        </p:spPr>
      </p:sp>
      <p:pic>
        <p:nvPicPr>
          <p:cNvPr id="26" name="Image 4" descr="preencoded.png"/>
          <p:cNvPicPr>
            <a:picLocks noChangeAspect="1"/>
          </p:cNvPicPr>
          <p:nvPr/>
        </p:nvPicPr>
        <p:blipFill>
          <a:blip r:embed="rId7"/>
          <a:stretch>
            <a:fillRect/>
          </a:stretch>
        </p:blipFill>
        <p:spPr>
          <a:xfrm>
            <a:off x="4764024" y="4037076"/>
            <a:ext cx="301752" cy="301752"/>
          </a:xfrm>
          <a:prstGeom prst="rect">
            <a:avLst/>
          </a:prstGeom>
        </p:spPr>
      </p:pic>
      <p:sp>
        <p:nvSpPr>
          <p:cNvPr id="27" name="Text 20"/>
          <p:cNvSpPr/>
          <p:nvPr/>
        </p:nvSpPr>
        <p:spPr>
          <a:xfrm>
            <a:off x="5326380" y="3931920"/>
            <a:ext cx="2240280" cy="50292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Controlled Forms</a:t>
            </a:r>
            <a:endParaRPr lang="en-US" sz="1400" dirty="0"/>
          </a:p>
        </p:txBody>
      </p:sp>
      <p:sp>
        <p:nvSpPr>
          <p:cNvPr id="28" name="Text 21"/>
          <p:cNvSpPr/>
          <p:nvPr/>
        </p:nvSpPr>
        <p:spPr>
          <a:xfrm>
            <a:off x="4640580" y="4572000"/>
            <a:ext cx="2880360" cy="82296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Every input is tied to state — login, signup, check-score, and dispute forms.</a:t>
            </a:r>
            <a:endParaRPr lang="en-US" sz="1050" dirty="0"/>
          </a:p>
        </p:txBody>
      </p:sp>
      <p:sp>
        <p:nvSpPr>
          <p:cNvPr id="29" name="Shape 22"/>
          <p:cNvSpPr/>
          <p:nvPr/>
        </p:nvSpPr>
        <p:spPr>
          <a:xfrm>
            <a:off x="8115300" y="3657600"/>
            <a:ext cx="3429000" cy="1828800"/>
          </a:xfrm>
          <a:prstGeom prst="roundRect">
            <a:avLst>
              <a:gd name="adj" fmla="val 3500"/>
            </a:avLst>
          </a:prstGeom>
          <a:solidFill>
            <a:srgbClr val="FFFFFF"/>
          </a:solidFill>
          <a:ln/>
          <a:effectLst>
            <a:outerShdw blurRad="101600" dist="25400" dir="5400000" algn="bl" rotWithShape="0">
              <a:srgbClr val="000000">
                <a:alpha val="12000"/>
              </a:srgbClr>
            </a:outerShdw>
          </a:effectLst>
        </p:spPr>
      </p:sp>
      <p:sp>
        <p:nvSpPr>
          <p:cNvPr id="30" name="Shape 23"/>
          <p:cNvSpPr/>
          <p:nvPr/>
        </p:nvSpPr>
        <p:spPr>
          <a:xfrm>
            <a:off x="8389620" y="3913632"/>
            <a:ext cx="548640" cy="548640"/>
          </a:xfrm>
          <a:prstGeom prst="ellipse">
            <a:avLst/>
          </a:prstGeom>
          <a:solidFill>
            <a:srgbClr val="E6F5F3"/>
          </a:solidFill>
          <a:ln/>
        </p:spPr>
      </p:sp>
      <p:pic>
        <p:nvPicPr>
          <p:cNvPr id="31" name="Image 5" descr="preencoded.png"/>
          <p:cNvPicPr>
            <a:picLocks noChangeAspect="1"/>
          </p:cNvPicPr>
          <p:nvPr/>
        </p:nvPicPr>
        <p:blipFill>
          <a:blip r:embed="rId8"/>
          <a:stretch>
            <a:fillRect/>
          </a:stretch>
        </p:blipFill>
        <p:spPr>
          <a:xfrm>
            <a:off x="8513064" y="4037076"/>
            <a:ext cx="301752" cy="301752"/>
          </a:xfrm>
          <a:prstGeom prst="rect">
            <a:avLst/>
          </a:prstGeom>
        </p:spPr>
      </p:pic>
      <p:sp>
        <p:nvSpPr>
          <p:cNvPr id="32" name="Text 24"/>
          <p:cNvSpPr/>
          <p:nvPr/>
        </p:nvSpPr>
        <p:spPr>
          <a:xfrm>
            <a:off x="9075420" y="3931920"/>
            <a:ext cx="2240280" cy="50292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List Rendering</a:t>
            </a:r>
            <a:endParaRPr lang="en-US" sz="1400" dirty="0"/>
          </a:p>
        </p:txBody>
      </p:sp>
      <p:sp>
        <p:nvSpPr>
          <p:cNvPr id="33" name="Text 25"/>
          <p:cNvSpPr/>
          <p:nvPr/>
        </p:nvSpPr>
        <p:spPr>
          <a:xfrm>
            <a:off x="8389620" y="4572000"/>
            <a:ext cx="2880360" cy="822960"/>
          </a:xfrm>
          <a:prstGeom prst="rect">
            <a:avLst/>
          </a:prstGeom>
          <a:noFill/>
          <a:ln/>
        </p:spPr>
        <p:txBody>
          <a:bodyPr wrap="square" rtlCol="0" anchor="ctr"/>
          <a:lstStyle/>
          <a:p>
            <a:pPr marL="0" indent="0">
              <a:lnSpc>
                <a:spcPct val="115000"/>
              </a:lnSpc>
              <a:buNone/>
            </a:pPr>
            <a:r>
              <a:rPr lang="en-US" sz="1050" dirty="0">
                <a:solidFill>
                  <a:srgbClr val="5C7080"/>
                </a:solidFill>
                <a:latin typeface="Calibri" pitchFamily="34" charset="0"/>
                <a:ea typeface="Calibri" pitchFamily="34" charset="-122"/>
                <a:cs typeface="Calibri" pitchFamily="34" charset="-120"/>
              </a:rPr>
              <a:t>.map() renders score history, factor bars, trend bars, tips, and table rows dynamically.</a:t>
            </a:r>
            <a:endParaRPr lang="en-US" sz="1050" dirty="0"/>
          </a:p>
        </p:txBody>
      </p:sp>
      <p:sp>
        <p:nvSpPr>
          <p:cNvPr id="34" name="Text 26"/>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35" name="Text 27"/>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Build &amp; Deployment</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Production readiness workflow (CO6)</a:t>
            </a:r>
            <a:endParaRPr lang="en-US" sz="1300" dirty="0"/>
          </a:p>
        </p:txBody>
      </p:sp>
      <p:sp>
        <p:nvSpPr>
          <p:cNvPr id="4" name="Shape 2"/>
          <p:cNvSpPr/>
          <p:nvPr/>
        </p:nvSpPr>
        <p:spPr>
          <a:xfrm>
            <a:off x="612648" y="1691640"/>
            <a:ext cx="2542032" cy="3291840"/>
          </a:xfrm>
          <a:prstGeom prst="roundRect">
            <a:avLst>
              <a:gd name="adj" fmla="val 2518"/>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1563624" y="2011680"/>
            <a:ext cx="640080" cy="64008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707642" y="2155698"/>
            <a:ext cx="352044" cy="352044"/>
          </a:xfrm>
          <a:prstGeom prst="rect">
            <a:avLst/>
          </a:prstGeom>
        </p:spPr>
      </p:pic>
      <p:sp>
        <p:nvSpPr>
          <p:cNvPr id="7" name="Text 4"/>
          <p:cNvSpPr/>
          <p:nvPr/>
        </p:nvSpPr>
        <p:spPr>
          <a:xfrm>
            <a:off x="795528" y="2834640"/>
            <a:ext cx="2176272" cy="45720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1. Build Tooling</a:t>
            </a:r>
            <a:endParaRPr lang="en-US" sz="1350" dirty="0"/>
          </a:p>
        </p:txBody>
      </p:sp>
      <p:sp>
        <p:nvSpPr>
          <p:cNvPr id="8" name="Text 5"/>
          <p:cNvSpPr/>
          <p:nvPr/>
        </p:nvSpPr>
        <p:spPr>
          <a:xfrm>
            <a:off x="841248" y="3337560"/>
            <a:ext cx="2084832" cy="1463040"/>
          </a:xfrm>
          <a:prstGeom prst="rect">
            <a:avLst/>
          </a:prstGeom>
          <a:noFill/>
          <a:ln/>
        </p:spPr>
        <p:txBody>
          <a:bodyPr wrap="square" rtlCol="0" anchor="ctr"/>
          <a:lstStyle/>
          <a:p>
            <a:pPr marL="0" indent="0" algn="ctr">
              <a:lnSpc>
                <a:spcPct val="120000"/>
              </a:lnSpc>
              <a:buNone/>
            </a:pPr>
            <a:r>
              <a:rPr lang="en-US" sz="1050" dirty="0">
                <a:solidFill>
                  <a:srgbClr val="5C7080"/>
                </a:solidFill>
                <a:latin typeface="Calibri" pitchFamily="34" charset="0"/>
                <a:ea typeface="Calibri" pitchFamily="34" charset="-122"/>
                <a:cs typeface="Calibri" pitchFamily="34" charset="-120"/>
              </a:rPr>
              <a:t>Vite used as the build tool for fast development server and optimized production bundling.</a:t>
            </a:r>
            <a:endParaRPr lang="en-US" sz="1050" dirty="0"/>
          </a:p>
        </p:txBody>
      </p:sp>
      <p:sp>
        <p:nvSpPr>
          <p:cNvPr id="9" name="Shape 6"/>
          <p:cNvSpPr/>
          <p:nvPr/>
        </p:nvSpPr>
        <p:spPr>
          <a:xfrm>
            <a:off x="3264408" y="3337560"/>
            <a:ext cx="0" cy="0"/>
          </a:xfrm>
          <a:prstGeom prst="line">
            <a:avLst/>
          </a:prstGeom>
          <a:noFill/>
          <a:ln w="12700">
            <a:solidFill>
              <a:srgbClr val="13A89E"/>
            </a:solidFill>
            <a:prstDash val="solid"/>
          </a:ln>
        </p:spPr>
      </p:sp>
      <p:sp>
        <p:nvSpPr>
          <p:cNvPr id="10" name="Shape 7"/>
          <p:cNvSpPr/>
          <p:nvPr/>
        </p:nvSpPr>
        <p:spPr>
          <a:xfrm>
            <a:off x="3410712" y="1691640"/>
            <a:ext cx="2542032" cy="3291840"/>
          </a:xfrm>
          <a:prstGeom prst="roundRect">
            <a:avLst>
              <a:gd name="adj" fmla="val 2518"/>
            </a:avLst>
          </a:prstGeom>
          <a:solidFill>
            <a:srgbClr val="0B2545"/>
          </a:solidFill>
          <a:ln/>
          <a:effectLst>
            <a:outerShdw blurRad="101600" dist="25400" dir="5400000" algn="bl" rotWithShape="0">
              <a:srgbClr val="000000">
                <a:alpha val="12000"/>
              </a:srgbClr>
            </a:outerShdw>
          </a:effectLst>
        </p:spPr>
      </p:sp>
      <p:sp>
        <p:nvSpPr>
          <p:cNvPr id="11" name="Shape 8"/>
          <p:cNvSpPr/>
          <p:nvPr/>
        </p:nvSpPr>
        <p:spPr>
          <a:xfrm>
            <a:off x="4361688" y="2011680"/>
            <a:ext cx="640080" cy="640080"/>
          </a:xfrm>
          <a:prstGeom prst="ellipse">
            <a:avLst/>
          </a:prstGeom>
          <a:solidFill>
            <a:srgbClr val="8FE3D9"/>
          </a:solidFill>
          <a:ln/>
        </p:spPr>
      </p:sp>
      <p:pic>
        <p:nvPicPr>
          <p:cNvPr id="12" name="Image 1" descr="preencoded.png"/>
          <p:cNvPicPr>
            <a:picLocks noChangeAspect="1"/>
          </p:cNvPicPr>
          <p:nvPr/>
        </p:nvPicPr>
        <p:blipFill>
          <a:blip r:embed="rId4"/>
          <a:stretch>
            <a:fillRect/>
          </a:stretch>
        </p:blipFill>
        <p:spPr>
          <a:xfrm>
            <a:off x="4505706" y="2155698"/>
            <a:ext cx="352044" cy="352044"/>
          </a:xfrm>
          <a:prstGeom prst="rect">
            <a:avLst/>
          </a:prstGeom>
        </p:spPr>
      </p:pic>
      <p:sp>
        <p:nvSpPr>
          <p:cNvPr id="13" name="Text 9"/>
          <p:cNvSpPr/>
          <p:nvPr/>
        </p:nvSpPr>
        <p:spPr>
          <a:xfrm>
            <a:off x="3593592" y="2834640"/>
            <a:ext cx="2176272"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 Version Control</a:t>
            </a:r>
            <a:endParaRPr lang="en-US" sz="1350" dirty="0"/>
          </a:p>
        </p:txBody>
      </p:sp>
      <p:sp>
        <p:nvSpPr>
          <p:cNvPr id="14" name="Text 10"/>
          <p:cNvSpPr/>
          <p:nvPr/>
        </p:nvSpPr>
        <p:spPr>
          <a:xfrm>
            <a:off x="3639312" y="3337560"/>
            <a:ext cx="2084832" cy="1463040"/>
          </a:xfrm>
          <a:prstGeom prst="rect">
            <a:avLst/>
          </a:prstGeom>
          <a:noFill/>
          <a:ln/>
        </p:spPr>
        <p:txBody>
          <a:bodyPr wrap="square" rtlCol="0" anchor="ctr"/>
          <a:lstStyle/>
          <a:p>
            <a:pPr marL="0" indent="0" algn="ctr">
              <a:lnSpc>
                <a:spcPct val="120000"/>
              </a:lnSpc>
              <a:buNone/>
            </a:pPr>
            <a:r>
              <a:rPr lang="en-US" sz="1050" dirty="0">
                <a:solidFill>
                  <a:srgbClr val="C9D6E3"/>
                </a:solidFill>
                <a:latin typeface="Calibri" pitchFamily="34" charset="0"/>
                <a:ea typeface="Calibri" pitchFamily="34" charset="-122"/>
                <a:cs typeface="Calibri" pitchFamily="34" charset="-120"/>
              </a:rPr>
              <a:t>Git and GitHub used for source control; project pushed to a public repository for submission.</a:t>
            </a:r>
            <a:endParaRPr lang="en-US" sz="1050" dirty="0"/>
          </a:p>
        </p:txBody>
      </p:sp>
      <p:sp>
        <p:nvSpPr>
          <p:cNvPr id="15" name="Shape 11"/>
          <p:cNvSpPr/>
          <p:nvPr/>
        </p:nvSpPr>
        <p:spPr>
          <a:xfrm>
            <a:off x="6062472" y="3337560"/>
            <a:ext cx="0" cy="0"/>
          </a:xfrm>
          <a:prstGeom prst="line">
            <a:avLst/>
          </a:prstGeom>
          <a:noFill/>
          <a:ln w="12700">
            <a:solidFill>
              <a:srgbClr val="13A89E"/>
            </a:solidFill>
            <a:prstDash val="solid"/>
          </a:ln>
        </p:spPr>
      </p:sp>
      <p:sp>
        <p:nvSpPr>
          <p:cNvPr id="16" name="Shape 12"/>
          <p:cNvSpPr/>
          <p:nvPr/>
        </p:nvSpPr>
        <p:spPr>
          <a:xfrm>
            <a:off x="6208776" y="1691640"/>
            <a:ext cx="2542032" cy="3291840"/>
          </a:xfrm>
          <a:prstGeom prst="roundRect">
            <a:avLst>
              <a:gd name="adj" fmla="val 2518"/>
            </a:avLst>
          </a:prstGeom>
          <a:solidFill>
            <a:srgbClr val="FFFFFF"/>
          </a:solidFill>
          <a:ln/>
          <a:effectLst>
            <a:outerShdw blurRad="101600" dist="25400" dir="5400000" algn="bl" rotWithShape="0">
              <a:srgbClr val="000000">
                <a:alpha val="12000"/>
              </a:srgbClr>
            </a:outerShdw>
          </a:effectLst>
        </p:spPr>
      </p:sp>
      <p:sp>
        <p:nvSpPr>
          <p:cNvPr id="17" name="Shape 13"/>
          <p:cNvSpPr/>
          <p:nvPr/>
        </p:nvSpPr>
        <p:spPr>
          <a:xfrm>
            <a:off x="7159752" y="2011680"/>
            <a:ext cx="640080" cy="640080"/>
          </a:xfrm>
          <a:prstGeom prst="ellipse">
            <a:avLst/>
          </a:prstGeom>
          <a:solidFill>
            <a:srgbClr val="E6F5F3"/>
          </a:solidFill>
          <a:ln/>
        </p:spPr>
      </p:sp>
      <p:pic>
        <p:nvPicPr>
          <p:cNvPr id="18" name="Image 2" descr="preencoded.png"/>
          <p:cNvPicPr>
            <a:picLocks noChangeAspect="1"/>
          </p:cNvPicPr>
          <p:nvPr/>
        </p:nvPicPr>
        <p:blipFill>
          <a:blip r:embed="rId5"/>
          <a:stretch>
            <a:fillRect/>
          </a:stretch>
        </p:blipFill>
        <p:spPr>
          <a:xfrm>
            <a:off x="7303770" y="2155698"/>
            <a:ext cx="352044" cy="352044"/>
          </a:xfrm>
          <a:prstGeom prst="rect">
            <a:avLst/>
          </a:prstGeom>
        </p:spPr>
      </p:pic>
      <p:sp>
        <p:nvSpPr>
          <p:cNvPr id="19" name="Text 14"/>
          <p:cNvSpPr/>
          <p:nvPr/>
        </p:nvSpPr>
        <p:spPr>
          <a:xfrm>
            <a:off x="6391656" y="2834640"/>
            <a:ext cx="2176272" cy="457200"/>
          </a:xfrm>
          <a:prstGeom prst="rect">
            <a:avLst/>
          </a:prstGeom>
          <a:noFill/>
          <a:ln/>
        </p:spPr>
        <p:txBody>
          <a:bodyPr wrap="square" rtlCol="0" anchor="ctr"/>
          <a:lstStyle/>
          <a:p>
            <a:pPr marL="0" indent="0" algn="ctr">
              <a:buNone/>
            </a:pPr>
            <a:r>
              <a:rPr lang="en-US" sz="1350" b="1" dirty="0">
                <a:solidFill>
                  <a:srgbClr val="0B2545"/>
                </a:solidFill>
                <a:latin typeface="Calibri" pitchFamily="34" charset="0"/>
                <a:ea typeface="Calibri" pitchFamily="34" charset="-122"/>
                <a:cs typeface="Calibri" pitchFamily="34" charset="-120"/>
              </a:rPr>
              <a:t>3. Local Testing</a:t>
            </a:r>
            <a:endParaRPr lang="en-US" sz="1350" dirty="0"/>
          </a:p>
        </p:txBody>
      </p:sp>
      <p:sp>
        <p:nvSpPr>
          <p:cNvPr id="20" name="Text 15"/>
          <p:cNvSpPr/>
          <p:nvPr/>
        </p:nvSpPr>
        <p:spPr>
          <a:xfrm>
            <a:off x="6437376" y="3337560"/>
            <a:ext cx="2084832" cy="1463040"/>
          </a:xfrm>
          <a:prstGeom prst="rect">
            <a:avLst/>
          </a:prstGeom>
          <a:noFill/>
          <a:ln/>
        </p:spPr>
        <p:txBody>
          <a:bodyPr wrap="square" rtlCol="0" anchor="ctr"/>
          <a:lstStyle/>
          <a:p>
            <a:pPr marL="0" indent="0" algn="ctr">
              <a:lnSpc>
                <a:spcPct val="120000"/>
              </a:lnSpc>
              <a:buNone/>
            </a:pPr>
            <a:r>
              <a:rPr lang="en-US" sz="1050" dirty="0">
                <a:solidFill>
                  <a:srgbClr val="5C7080"/>
                </a:solidFill>
                <a:latin typeface="Calibri" pitchFamily="34" charset="0"/>
                <a:ea typeface="Calibri" pitchFamily="34" charset="-122"/>
                <a:cs typeface="Calibri" pitchFamily="34" charset="-120"/>
              </a:rPr>
              <a:t>Manually tested all 10 modules and form validations across Chrome before submission.</a:t>
            </a:r>
            <a:endParaRPr lang="en-US" sz="1050" dirty="0"/>
          </a:p>
        </p:txBody>
      </p:sp>
      <p:sp>
        <p:nvSpPr>
          <p:cNvPr id="21" name="Shape 16"/>
          <p:cNvSpPr/>
          <p:nvPr/>
        </p:nvSpPr>
        <p:spPr>
          <a:xfrm>
            <a:off x="8860536" y="3337560"/>
            <a:ext cx="0" cy="0"/>
          </a:xfrm>
          <a:prstGeom prst="line">
            <a:avLst/>
          </a:prstGeom>
          <a:noFill/>
          <a:ln w="12700">
            <a:solidFill>
              <a:srgbClr val="13A89E"/>
            </a:solidFill>
            <a:prstDash val="solid"/>
          </a:ln>
        </p:spPr>
      </p:sp>
      <p:sp>
        <p:nvSpPr>
          <p:cNvPr id="22" name="Shape 17"/>
          <p:cNvSpPr/>
          <p:nvPr/>
        </p:nvSpPr>
        <p:spPr>
          <a:xfrm>
            <a:off x="9006840" y="1691640"/>
            <a:ext cx="2542032" cy="3291840"/>
          </a:xfrm>
          <a:prstGeom prst="roundRect">
            <a:avLst>
              <a:gd name="adj" fmla="val 2518"/>
            </a:avLst>
          </a:prstGeom>
          <a:solidFill>
            <a:srgbClr val="0B2545"/>
          </a:solidFill>
          <a:ln/>
          <a:effectLst>
            <a:outerShdw blurRad="101600" dist="25400" dir="5400000" algn="bl" rotWithShape="0">
              <a:srgbClr val="000000">
                <a:alpha val="12000"/>
              </a:srgbClr>
            </a:outerShdw>
          </a:effectLst>
        </p:spPr>
      </p:sp>
      <p:sp>
        <p:nvSpPr>
          <p:cNvPr id="23" name="Shape 18"/>
          <p:cNvSpPr/>
          <p:nvPr/>
        </p:nvSpPr>
        <p:spPr>
          <a:xfrm>
            <a:off x="9957816" y="2011680"/>
            <a:ext cx="640080" cy="640080"/>
          </a:xfrm>
          <a:prstGeom prst="ellipse">
            <a:avLst/>
          </a:prstGeom>
          <a:solidFill>
            <a:srgbClr val="8FE3D9"/>
          </a:solidFill>
          <a:ln/>
        </p:spPr>
      </p:sp>
      <p:pic>
        <p:nvPicPr>
          <p:cNvPr id="24" name="Image 3" descr="preencoded.png"/>
          <p:cNvPicPr>
            <a:picLocks noChangeAspect="1"/>
          </p:cNvPicPr>
          <p:nvPr/>
        </p:nvPicPr>
        <p:blipFill>
          <a:blip r:embed="rId6"/>
          <a:stretch>
            <a:fillRect/>
          </a:stretch>
        </p:blipFill>
        <p:spPr>
          <a:xfrm>
            <a:off x="10101834" y="2155698"/>
            <a:ext cx="352044" cy="352044"/>
          </a:xfrm>
          <a:prstGeom prst="rect">
            <a:avLst/>
          </a:prstGeom>
        </p:spPr>
      </p:pic>
      <p:sp>
        <p:nvSpPr>
          <p:cNvPr id="25" name="Text 19"/>
          <p:cNvSpPr/>
          <p:nvPr/>
        </p:nvSpPr>
        <p:spPr>
          <a:xfrm>
            <a:off x="9189720" y="2834640"/>
            <a:ext cx="2176272"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 Deployment Ready</a:t>
            </a:r>
            <a:endParaRPr lang="en-US" sz="1350" dirty="0"/>
          </a:p>
        </p:txBody>
      </p:sp>
      <p:sp>
        <p:nvSpPr>
          <p:cNvPr id="26" name="Text 20"/>
          <p:cNvSpPr/>
          <p:nvPr/>
        </p:nvSpPr>
        <p:spPr>
          <a:xfrm>
            <a:off x="9235440" y="3337560"/>
            <a:ext cx="2084832" cy="1463040"/>
          </a:xfrm>
          <a:prstGeom prst="rect">
            <a:avLst/>
          </a:prstGeom>
          <a:noFill/>
          <a:ln/>
        </p:spPr>
        <p:txBody>
          <a:bodyPr wrap="square" rtlCol="0" anchor="ctr"/>
          <a:lstStyle/>
          <a:p>
            <a:pPr marL="0" indent="0" algn="ctr">
              <a:lnSpc>
                <a:spcPct val="120000"/>
              </a:lnSpc>
              <a:buNone/>
            </a:pPr>
            <a:r>
              <a:rPr lang="en-US" sz="1050" dirty="0">
                <a:solidFill>
                  <a:srgbClr val="C9D6E3"/>
                </a:solidFill>
                <a:latin typeface="Calibri" pitchFamily="34" charset="0"/>
                <a:ea typeface="Calibri" pitchFamily="34" charset="-122"/>
                <a:cs typeface="Calibri" pitchFamily="34" charset="-120"/>
              </a:rPr>
              <a:t>Project structured to be deployable on Vercel or Netlify with a single command, producing a live URL.</a:t>
            </a:r>
            <a:endParaRPr lang="en-US" sz="1050" dirty="0"/>
          </a:p>
        </p:txBody>
      </p:sp>
      <p:sp>
        <p:nvSpPr>
          <p:cNvPr id="27" name="Text 21"/>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8" name="Text 22"/>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Team Contribution</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Work distribution between team members</a:t>
            </a:r>
            <a:endParaRPr lang="en-US" sz="1300" dirty="0"/>
          </a:p>
        </p:txBody>
      </p:sp>
      <p:sp>
        <p:nvSpPr>
          <p:cNvPr id="4" name="Shape 2"/>
          <p:cNvSpPr/>
          <p:nvPr/>
        </p:nvSpPr>
        <p:spPr>
          <a:xfrm>
            <a:off x="640080" y="1508760"/>
            <a:ext cx="5212080" cy="4206240"/>
          </a:xfrm>
          <a:prstGeom prst="roundRect">
            <a:avLst>
              <a:gd name="adj" fmla="val 1522"/>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960120" y="1828800"/>
            <a:ext cx="685800" cy="685800"/>
          </a:xfrm>
          <a:prstGeom prst="ellipse">
            <a:avLst/>
          </a:prstGeom>
          <a:solidFill>
            <a:srgbClr val="0C7C73"/>
          </a:solidFill>
          <a:ln/>
        </p:spPr>
      </p:sp>
      <p:pic>
        <p:nvPicPr>
          <p:cNvPr id="6" name="Image 0" descr="preencoded.png"/>
          <p:cNvPicPr>
            <a:picLocks noChangeAspect="1"/>
          </p:cNvPicPr>
          <p:nvPr/>
        </p:nvPicPr>
        <p:blipFill>
          <a:blip r:embed="rId3"/>
          <a:stretch>
            <a:fillRect/>
          </a:stretch>
        </p:blipFill>
        <p:spPr>
          <a:xfrm>
            <a:off x="1114425" y="1983105"/>
            <a:ext cx="377190" cy="377190"/>
          </a:xfrm>
          <a:prstGeom prst="rect">
            <a:avLst/>
          </a:prstGeom>
        </p:spPr>
      </p:pic>
      <p:sp>
        <p:nvSpPr>
          <p:cNvPr id="7" name="Text 4"/>
          <p:cNvSpPr/>
          <p:nvPr/>
        </p:nvSpPr>
        <p:spPr>
          <a:xfrm>
            <a:off x="1828800" y="1856232"/>
            <a:ext cx="374904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Battagiri Ranga Charvik</a:t>
            </a:r>
            <a:endParaRPr lang="en-US" sz="1600" dirty="0"/>
          </a:p>
        </p:txBody>
      </p:sp>
      <p:sp>
        <p:nvSpPr>
          <p:cNvPr id="8" name="Text 5"/>
          <p:cNvSpPr/>
          <p:nvPr/>
        </p:nvSpPr>
        <p:spPr>
          <a:xfrm>
            <a:off x="1828800" y="2194560"/>
            <a:ext cx="3749040" cy="274320"/>
          </a:xfrm>
          <a:prstGeom prst="rect">
            <a:avLst/>
          </a:prstGeom>
          <a:noFill/>
          <a:ln/>
        </p:spPr>
        <p:txBody>
          <a:bodyPr wrap="square" rtlCol="0" anchor="ctr"/>
          <a:lstStyle/>
          <a:p>
            <a:pPr marL="0" indent="0">
              <a:buNone/>
            </a:pPr>
            <a:r>
              <a:rPr lang="en-US" sz="1100" dirty="0">
                <a:solidFill>
                  <a:srgbClr val="5C7080"/>
                </a:solidFill>
                <a:latin typeface="Calibri" pitchFamily="34" charset="0"/>
                <a:ea typeface="Calibri" pitchFamily="34" charset="-122"/>
                <a:cs typeface="Calibri" pitchFamily="34" charset="-120"/>
              </a:rPr>
              <a:t>2520040108</a:t>
            </a:r>
            <a:endParaRPr lang="en-US" sz="1100" dirty="0"/>
          </a:p>
        </p:txBody>
      </p:sp>
      <p:sp>
        <p:nvSpPr>
          <p:cNvPr id="9" name="Shape 6"/>
          <p:cNvSpPr/>
          <p:nvPr/>
        </p:nvSpPr>
        <p:spPr>
          <a:xfrm>
            <a:off x="960120" y="2880360"/>
            <a:ext cx="365760" cy="365760"/>
          </a:xfrm>
          <a:prstGeom prst="ellipse">
            <a:avLst/>
          </a:prstGeom>
          <a:solidFill>
            <a:srgbClr val="E6F5F3"/>
          </a:solidFill>
          <a:ln/>
        </p:spPr>
      </p:sp>
      <p:pic>
        <p:nvPicPr>
          <p:cNvPr id="10" name="Image 1" descr="preencoded.png"/>
          <p:cNvPicPr>
            <a:picLocks noChangeAspect="1"/>
          </p:cNvPicPr>
          <p:nvPr/>
        </p:nvPicPr>
        <p:blipFill>
          <a:blip r:embed="rId4"/>
          <a:stretch>
            <a:fillRect/>
          </a:stretch>
        </p:blipFill>
        <p:spPr>
          <a:xfrm>
            <a:off x="1042416" y="2962656"/>
            <a:ext cx="201168" cy="201168"/>
          </a:xfrm>
          <a:prstGeom prst="rect">
            <a:avLst/>
          </a:prstGeom>
        </p:spPr>
      </p:pic>
      <p:sp>
        <p:nvSpPr>
          <p:cNvPr id="11" name="Text 7"/>
          <p:cNvSpPr/>
          <p:nvPr/>
        </p:nvSpPr>
        <p:spPr>
          <a:xfrm>
            <a:off x="1508760" y="2834640"/>
            <a:ext cx="4023360" cy="54864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Project architecture &amp; Context API setup</a:t>
            </a:r>
            <a:endParaRPr lang="en-US" sz="1200" dirty="0"/>
          </a:p>
        </p:txBody>
      </p:sp>
      <p:sp>
        <p:nvSpPr>
          <p:cNvPr id="12" name="Shape 8"/>
          <p:cNvSpPr/>
          <p:nvPr/>
        </p:nvSpPr>
        <p:spPr>
          <a:xfrm>
            <a:off x="960120" y="3721608"/>
            <a:ext cx="365760" cy="365760"/>
          </a:xfrm>
          <a:prstGeom prst="ellipse">
            <a:avLst/>
          </a:prstGeom>
          <a:solidFill>
            <a:srgbClr val="E6F5F3"/>
          </a:solidFill>
          <a:ln/>
        </p:spPr>
      </p:sp>
      <p:pic>
        <p:nvPicPr>
          <p:cNvPr id="13" name="Image 2" descr="preencoded.png"/>
          <p:cNvPicPr>
            <a:picLocks noChangeAspect="1"/>
          </p:cNvPicPr>
          <p:nvPr/>
        </p:nvPicPr>
        <p:blipFill>
          <a:blip r:embed="rId4"/>
          <a:stretch>
            <a:fillRect/>
          </a:stretch>
        </p:blipFill>
        <p:spPr>
          <a:xfrm>
            <a:off x="1042416" y="3803904"/>
            <a:ext cx="201168" cy="201168"/>
          </a:xfrm>
          <a:prstGeom prst="rect">
            <a:avLst/>
          </a:prstGeom>
        </p:spPr>
      </p:pic>
      <p:sp>
        <p:nvSpPr>
          <p:cNvPr id="14" name="Text 9"/>
          <p:cNvSpPr/>
          <p:nvPr/>
        </p:nvSpPr>
        <p:spPr>
          <a:xfrm>
            <a:off x="1508760" y="3675888"/>
            <a:ext cx="4023360" cy="54864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Dashboard, Check Score, History, Export modules</a:t>
            </a:r>
            <a:endParaRPr lang="en-US" sz="1200" dirty="0"/>
          </a:p>
        </p:txBody>
      </p:sp>
      <p:sp>
        <p:nvSpPr>
          <p:cNvPr id="15" name="Shape 10"/>
          <p:cNvSpPr/>
          <p:nvPr/>
        </p:nvSpPr>
        <p:spPr>
          <a:xfrm>
            <a:off x="960120" y="4562856"/>
            <a:ext cx="365760" cy="365760"/>
          </a:xfrm>
          <a:prstGeom prst="ellipse">
            <a:avLst/>
          </a:prstGeom>
          <a:solidFill>
            <a:srgbClr val="E6F5F3"/>
          </a:solidFill>
          <a:ln/>
        </p:spPr>
      </p:sp>
      <p:pic>
        <p:nvPicPr>
          <p:cNvPr id="16" name="Image 3" descr="preencoded.png"/>
          <p:cNvPicPr>
            <a:picLocks noChangeAspect="1"/>
          </p:cNvPicPr>
          <p:nvPr/>
        </p:nvPicPr>
        <p:blipFill>
          <a:blip r:embed="rId4"/>
          <a:stretch>
            <a:fillRect/>
          </a:stretch>
        </p:blipFill>
        <p:spPr>
          <a:xfrm>
            <a:off x="1042416" y="4645152"/>
            <a:ext cx="201168" cy="201168"/>
          </a:xfrm>
          <a:prstGeom prst="rect">
            <a:avLst/>
          </a:prstGeom>
        </p:spPr>
      </p:pic>
      <p:sp>
        <p:nvSpPr>
          <p:cNvPr id="17" name="Text 11"/>
          <p:cNvSpPr/>
          <p:nvPr/>
        </p:nvSpPr>
        <p:spPr>
          <a:xfrm>
            <a:off x="1508760" y="4517136"/>
            <a:ext cx="4023360" cy="54864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GitHub repository setup &amp; version control</a:t>
            </a:r>
            <a:endParaRPr lang="en-US" sz="1200" dirty="0"/>
          </a:p>
        </p:txBody>
      </p:sp>
      <p:sp>
        <p:nvSpPr>
          <p:cNvPr id="18" name="Shape 12"/>
          <p:cNvSpPr/>
          <p:nvPr/>
        </p:nvSpPr>
        <p:spPr>
          <a:xfrm>
            <a:off x="6309360" y="1508760"/>
            <a:ext cx="5212080" cy="4206240"/>
          </a:xfrm>
          <a:prstGeom prst="roundRect">
            <a:avLst>
              <a:gd name="adj" fmla="val 1522"/>
            </a:avLst>
          </a:prstGeom>
          <a:solidFill>
            <a:srgbClr val="FFFFFF"/>
          </a:solidFill>
          <a:ln/>
          <a:effectLst>
            <a:outerShdw blurRad="101600" dist="25400" dir="5400000" algn="bl" rotWithShape="0">
              <a:srgbClr val="000000">
                <a:alpha val="12000"/>
              </a:srgbClr>
            </a:outerShdw>
          </a:effectLst>
        </p:spPr>
      </p:sp>
      <p:sp>
        <p:nvSpPr>
          <p:cNvPr id="19" name="Shape 13"/>
          <p:cNvSpPr/>
          <p:nvPr/>
        </p:nvSpPr>
        <p:spPr>
          <a:xfrm>
            <a:off x="6629400" y="1828800"/>
            <a:ext cx="685800" cy="685800"/>
          </a:xfrm>
          <a:prstGeom prst="ellipse">
            <a:avLst/>
          </a:prstGeom>
          <a:solidFill>
            <a:srgbClr val="0C7C73"/>
          </a:solidFill>
          <a:ln/>
        </p:spPr>
      </p:sp>
      <p:pic>
        <p:nvPicPr>
          <p:cNvPr id="20" name="Image 4" descr="preencoded.png"/>
          <p:cNvPicPr>
            <a:picLocks noChangeAspect="1"/>
          </p:cNvPicPr>
          <p:nvPr/>
        </p:nvPicPr>
        <p:blipFill>
          <a:blip r:embed="rId3"/>
          <a:stretch>
            <a:fillRect/>
          </a:stretch>
        </p:blipFill>
        <p:spPr>
          <a:xfrm>
            <a:off x="6783705" y="1983105"/>
            <a:ext cx="377190" cy="377190"/>
          </a:xfrm>
          <a:prstGeom prst="rect">
            <a:avLst/>
          </a:prstGeom>
        </p:spPr>
      </p:pic>
      <p:sp>
        <p:nvSpPr>
          <p:cNvPr id="21" name="Text 14"/>
          <p:cNvSpPr/>
          <p:nvPr/>
        </p:nvSpPr>
        <p:spPr>
          <a:xfrm>
            <a:off x="7498080" y="1856232"/>
            <a:ext cx="374904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R. Gnaneshwar</a:t>
            </a:r>
            <a:endParaRPr lang="en-US" sz="1600" dirty="0"/>
          </a:p>
        </p:txBody>
      </p:sp>
      <p:sp>
        <p:nvSpPr>
          <p:cNvPr id="22" name="Text 15"/>
          <p:cNvSpPr/>
          <p:nvPr/>
        </p:nvSpPr>
        <p:spPr>
          <a:xfrm>
            <a:off x="7498080" y="2194560"/>
            <a:ext cx="3749040" cy="274320"/>
          </a:xfrm>
          <a:prstGeom prst="rect">
            <a:avLst/>
          </a:prstGeom>
          <a:noFill/>
          <a:ln/>
        </p:spPr>
        <p:txBody>
          <a:bodyPr wrap="square" rtlCol="0" anchor="ctr"/>
          <a:lstStyle/>
          <a:p>
            <a:pPr marL="0" indent="0">
              <a:buNone/>
            </a:pPr>
            <a:r>
              <a:rPr lang="en-US" sz="1100" dirty="0">
                <a:solidFill>
                  <a:srgbClr val="5C7080"/>
                </a:solidFill>
                <a:latin typeface="Calibri" pitchFamily="34" charset="0"/>
                <a:ea typeface="Calibri" pitchFamily="34" charset="-122"/>
                <a:cs typeface="Calibri" pitchFamily="34" charset="-120"/>
              </a:rPr>
              <a:t>2520040076  •  Sec 15</a:t>
            </a:r>
            <a:endParaRPr lang="en-US" sz="1100" dirty="0"/>
          </a:p>
        </p:txBody>
      </p:sp>
      <p:sp>
        <p:nvSpPr>
          <p:cNvPr id="23" name="Shape 16"/>
          <p:cNvSpPr/>
          <p:nvPr/>
        </p:nvSpPr>
        <p:spPr>
          <a:xfrm>
            <a:off x="6629400" y="2880360"/>
            <a:ext cx="365760" cy="365760"/>
          </a:xfrm>
          <a:prstGeom prst="ellipse">
            <a:avLst/>
          </a:prstGeom>
          <a:solidFill>
            <a:srgbClr val="E6F5F3"/>
          </a:solidFill>
          <a:ln/>
        </p:spPr>
      </p:sp>
      <p:pic>
        <p:nvPicPr>
          <p:cNvPr id="24" name="Image 5" descr="preencoded.png"/>
          <p:cNvPicPr>
            <a:picLocks noChangeAspect="1"/>
          </p:cNvPicPr>
          <p:nvPr/>
        </p:nvPicPr>
        <p:blipFill>
          <a:blip r:embed="rId4"/>
          <a:stretch>
            <a:fillRect/>
          </a:stretch>
        </p:blipFill>
        <p:spPr>
          <a:xfrm>
            <a:off x="6711696" y="2962656"/>
            <a:ext cx="201168" cy="201168"/>
          </a:xfrm>
          <a:prstGeom prst="rect">
            <a:avLst/>
          </a:prstGeom>
        </p:spPr>
      </p:pic>
      <p:sp>
        <p:nvSpPr>
          <p:cNvPr id="25" name="Text 17"/>
          <p:cNvSpPr/>
          <p:nvPr/>
        </p:nvSpPr>
        <p:spPr>
          <a:xfrm>
            <a:off x="7178040" y="2834640"/>
            <a:ext cx="4023360" cy="54864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Dispute Form, Improvement Tips, Eligibility Hint modules</a:t>
            </a:r>
            <a:endParaRPr lang="en-US" sz="1200" dirty="0"/>
          </a:p>
        </p:txBody>
      </p:sp>
      <p:sp>
        <p:nvSpPr>
          <p:cNvPr id="26" name="Shape 18"/>
          <p:cNvSpPr/>
          <p:nvPr/>
        </p:nvSpPr>
        <p:spPr>
          <a:xfrm>
            <a:off x="6629400" y="3721608"/>
            <a:ext cx="365760" cy="365760"/>
          </a:xfrm>
          <a:prstGeom prst="ellipse">
            <a:avLst/>
          </a:prstGeom>
          <a:solidFill>
            <a:srgbClr val="E6F5F3"/>
          </a:solidFill>
          <a:ln/>
        </p:spPr>
      </p:sp>
      <p:pic>
        <p:nvPicPr>
          <p:cNvPr id="27" name="Image 6" descr="preencoded.png"/>
          <p:cNvPicPr>
            <a:picLocks noChangeAspect="1"/>
          </p:cNvPicPr>
          <p:nvPr/>
        </p:nvPicPr>
        <p:blipFill>
          <a:blip r:embed="rId4"/>
          <a:stretch>
            <a:fillRect/>
          </a:stretch>
        </p:blipFill>
        <p:spPr>
          <a:xfrm>
            <a:off x="6711696" y="3803904"/>
            <a:ext cx="201168" cy="201168"/>
          </a:xfrm>
          <a:prstGeom prst="rect">
            <a:avLst/>
          </a:prstGeom>
        </p:spPr>
      </p:pic>
      <p:sp>
        <p:nvSpPr>
          <p:cNvPr id="28" name="Text 19"/>
          <p:cNvSpPr/>
          <p:nvPr/>
        </p:nvSpPr>
        <p:spPr>
          <a:xfrm>
            <a:off x="7178040" y="3675888"/>
            <a:ext cx="4023360" cy="54864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Notifications &amp; Admin Panel implementation</a:t>
            </a:r>
            <a:endParaRPr lang="en-US" sz="1200" dirty="0"/>
          </a:p>
        </p:txBody>
      </p:sp>
      <p:sp>
        <p:nvSpPr>
          <p:cNvPr id="29" name="Shape 20"/>
          <p:cNvSpPr/>
          <p:nvPr/>
        </p:nvSpPr>
        <p:spPr>
          <a:xfrm>
            <a:off x="6629400" y="4562856"/>
            <a:ext cx="365760" cy="365760"/>
          </a:xfrm>
          <a:prstGeom prst="ellipse">
            <a:avLst/>
          </a:prstGeom>
          <a:solidFill>
            <a:srgbClr val="E6F5F3"/>
          </a:solidFill>
          <a:ln/>
        </p:spPr>
      </p:sp>
      <p:pic>
        <p:nvPicPr>
          <p:cNvPr id="30" name="Image 7" descr="preencoded.png"/>
          <p:cNvPicPr>
            <a:picLocks noChangeAspect="1"/>
          </p:cNvPicPr>
          <p:nvPr/>
        </p:nvPicPr>
        <p:blipFill>
          <a:blip r:embed="rId4"/>
          <a:stretch>
            <a:fillRect/>
          </a:stretch>
        </p:blipFill>
        <p:spPr>
          <a:xfrm>
            <a:off x="6711696" y="4645152"/>
            <a:ext cx="201168" cy="201168"/>
          </a:xfrm>
          <a:prstGeom prst="rect">
            <a:avLst/>
          </a:prstGeom>
        </p:spPr>
      </p:pic>
      <p:sp>
        <p:nvSpPr>
          <p:cNvPr id="31" name="Text 21"/>
          <p:cNvSpPr/>
          <p:nvPr/>
        </p:nvSpPr>
        <p:spPr>
          <a:xfrm>
            <a:off x="7178040" y="4517136"/>
            <a:ext cx="4023360" cy="548640"/>
          </a:xfrm>
          <a:prstGeom prst="rect">
            <a:avLst/>
          </a:prstGeom>
          <a:noFill/>
          <a:ln/>
        </p:spPr>
        <p:txBody>
          <a:bodyPr wrap="square" rtlCol="0" anchor="ctr"/>
          <a:lstStyle/>
          <a:p>
            <a:pPr marL="0" indent="0">
              <a:lnSpc>
                <a:spcPct val="115000"/>
              </a:lnSpc>
              <a:buNone/>
            </a:pPr>
            <a:r>
              <a:rPr lang="en-US" sz="1200" dirty="0">
                <a:solidFill>
                  <a:srgbClr val="16243A"/>
                </a:solidFill>
                <a:latin typeface="Calibri" pitchFamily="34" charset="0"/>
                <a:ea typeface="Calibri" pitchFamily="34" charset="-122"/>
                <a:cs typeface="Calibri" pitchFamily="34" charset="-120"/>
              </a:rPr>
              <a:t>CSS styling and UI consistency across pages</a:t>
            </a:r>
            <a:endParaRPr lang="en-US" sz="1200" dirty="0"/>
          </a:p>
        </p:txBody>
      </p:sp>
      <p:sp>
        <p:nvSpPr>
          <p:cNvPr id="32" name="Text 22"/>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33" name="Text 23"/>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Future Scope</a:t>
            </a:r>
            <a:endParaRPr lang="en-US" sz="2800" dirty="0"/>
          </a:p>
        </p:txBody>
      </p:sp>
      <p:sp>
        <p:nvSpPr>
          <p:cNvPr id="3" name="Text 1"/>
          <p:cNvSpPr/>
          <p:nvPr/>
        </p:nvSpPr>
        <p:spPr>
          <a:xfrm>
            <a:off x="640080" y="941832"/>
            <a:ext cx="7315200" cy="320040"/>
          </a:xfrm>
          <a:prstGeom prst="rect">
            <a:avLst/>
          </a:prstGeom>
          <a:noFill/>
          <a:ln/>
        </p:spPr>
        <p:txBody>
          <a:bodyPr wrap="square" rtlCol="0" anchor="ctr"/>
          <a:lstStyle/>
          <a:p>
            <a:pPr marL="0" indent="0">
              <a:buNone/>
            </a:pPr>
            <a:r>
              <a:rPr lang="en-US" sz="1300" i="1" dirty="0">
                <a:solidFill>
                  <a:srgbClr val="5C7080"/>
                </a:solidFill>
                <a:latin typeface="Calibri" pitchFamily="34" charset="0"/>
                <a:ea typeface="Calibri" pitchFamily="34" charset="-122"/>
                <a:cs typeface="Calibri" pitchFamily="34" charset="-120"/>
              </a:rPr>
              <a:t>Possible enhancements beyond this course project</a:t>
            </a:r>
            <a:endParaRPr lang="en-US" sz="1300" dirty="0"/>
          </a:p>
        </p:txBody>
      </p:sp>
      <p:sp>
        <p:nvSpPr>
          <p:cNvPr id="4" name="Shape 2"/>
          <p:cNvSpPr/>
          <p:nvPr/>
        </p:nvSpPr>
        <p:spPr>
          <a:xfrm>
            <a:off x="640080" y="1600200"/>
            <a:ext cx="5212080" cy="1965960"/>
          </a:xfrm>
          <a:prstGeom prst="roundRect">
            <a:avLst>
              <a:gd name="adj" fmla="val 3256"/>
            </a:avLst>
          </a:prstGeom>
          <a:solidFill>
            <a:srgbClr val="FFFFFF"/>
          </a:solidFill>
          <a:ln/>
          <a:effectLst>
            <a:outerShdw blurRad="101600" dist="25400" dir="5400000" algn="bl" rotWithShape="0">
              <a:srgbClr val="000000">
                <a:alpha val="12000"/>
              </a:srgbClr>
            </a:outerShdw>
          </a:effectLst>
        </p:spPr>
      </p:sp>
      <p:sp>
        <p:nvSpPr>
          <p:cNvPr id="5" name="Shape 3"/>
          <p:cNvSpPr/>
          <p:nvPr/>
        </p:nvSpPr>
        <p:spPr>
          <a:xfrm>
            <a:off x="914400" y="1874520"/>
            <a:ext cx="594360" cy="594360"/>
          </a:xfrm>
          <a:prstGeom prst="ellipse">
            <a:avLst/>
          </a:prstGeom>
          <a:solidFill>
            <a:srgbClr val="E6F5F3"/>
          </a:solidFill>
          <a:ln/>
        </p:spPr>
      </p:sp>
      <p:pic>
        <p:nvPicPr>
          <p:cNvPr id="6" name="Image 0" descr="preencoded.png"/>
          <p:cNvPicPr>
            <a:picLocks noChangeAspect="1"/>
          </p:cNvPicPr>
          <p:nvPr/>
        </p:nvPicPr>
        <p:blipFill>
          <a:blip r:embed="rId3"/>
          <a:stretch>
            <a:fillRect/>
          </a:stretch>
        </p:blipFill>
        <p:spPr>
          <a:xfrm>
            <a:off x="1048131" y="2008251"/>
            <a:ext cx="326898" cy="326898"/>
          </a:xfrm>
          <a:prstGeom prst="rect">
            <a:avLst/>
          </a:prstGeom>
        </p:spPr>
      </p:pic>
      <p:sp>
        <p:nvSpPr>
          <p:cNvPr id="7" name="Text 4"/>
          <p:cNvSpPr/>
          <p:nvPr/>
        </p:nvSpPr>
        <p:spPr>
          <a:xfrm>
            <a:off x="1691640" y="1892808"/>
            <a:ext cx="3931920" cy="50292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Backend Integration</a:t>
            </a:r>
            <a:endParaRPr lang="en-US" sz="1450" dirty="0"/>
          </a:p>
        </p:txBody>
      </p:sp>
      <p:sp>
        <p:nvSpPr>
          <p:cNvPr id="8" name="Text 5"/>
          <p:cNvSpPr/>
          <p:nvPr/>
        </p:nvSpPr>
        <p:spPr>
          <a:xfrm>
            <a:off x="914400" y="2560320"/>
            <a:ext cx="4663440" cy="914400"/>
          </a:xfrm>
          <a:prstGeom prst="rect">
            <a:avLst/>
          </a:prstGeom>
          <a:noFill/>
          <a:ln/>
        </p:spPr>
        <p:txBody>
          <a:bodyPr wrap="square" rtlCol="0" anchor="ctr"/>
          <a:lstStyle/>
          <a:p>
            <a:pPr marL="0" indent="0">
              <a:lnSpc>
                <a:spcPct val="120000"/>
              </a:lnSpc>
              <a:buNone/>
            </a:pPr>
            <a:r>
              <a:rPr lang="en-US" sz="1100" dirty="0">
                <a:solidFill>
                  <a:srgbClr val="5C7080"/>
                </a:solidFill>
                <a:latin typeface="Calibri" pitchFamily="34" charset="0"/>
                <a:ea typeface="Calibri" pitchFamily="34" charset="-122"/>
                <a:cs typeface="Calibri" pitchFamily="34" charset="-120"/>
              </a:rPr>
              <a:t>Connect to a real Node.js/Express backend with MySQL for persistent data instead of in-memory state.</a:t>
            </a:r>
            <a:endParaRPr lang="en-US" sz="1100" dirty="0"/>
          </a:p>
        </p:txBody>
      </p:sp>
      <p:sp>
        <p:nvSpPr>
          <p:cNvPr id="9" name="Shape 6"/>
          <p:cNvSpPr/>
          <p:nvPr/>
        </p:nvSpPr>
        <p:spPr>
          <a:xfrm>
            <a:off x="6309360" y="1600200"/>
            <a:ext cx="5212080" cy="1965960"/>
          </a:xfrm>
          <a:prstGeom prst="roundRect">
            <a:avLst>
              <a:gd name="adj" fmla="val 3256"/>
            </a:avLst>
          </a:prstGeom>
          <a:solidFill>
            <a:srgbClr val="FFFFFF"/>
          </a:solidFill>
          <a:ln/>
          <a:effectLst>
            <a:outerShdw blurRad="101600" dist="25400" dir="5400000" algn="bl" rotWithShape="0">
              <a:srgbClr val="000000">
                <a:alpha val="12000"/>
              </a:srgbClr>
            </a:outerShdw>
          </a:effectLst>
        </p:spPr>
      </p:sp>
      <p:sp>
        <p:nvSpPr>
          <p:cNvPr id="10" name="Shape 7"/>
          <p:cNvSpPr/>
          <p:nvPr/>
        </p:nvSpPr>
        <p:spPr>
          <a:xfrm>
            <a:off x="6583680" y="1874520"/>
            <a:ext cx="594360" cy="594360"/>
          </a:xfrm>
          <a:prstGeom prst="ellipse">
            <a:avLst/>
          </a:prstGeom>
          <a:solidFill>
            <a:srgbClr val="E6F5F3"/>
          </a:solidFill>
          <a:ln/>
        </p:spPr>
      </p:sp>
      <p:pic>
        <p:nvPicPr>
          <p:cNvPr id="11" name="Image 1" descr="preencoded.png"/>
          <p:cNvPicPr>
            <a:picLocks noChangeAspect="1"/>
          </p:cNvPicPr>
          <p:nvPr/>
        </p:nvPicPr>
        <p:blipFill>
          <a:blip r:embed="rId4"/>
          <a:stretch>
            <a:fillRect/>
          </a:stretch>
        </p:blipFill>
        <p:spPr>
          <a:xfrm>
            <a:off x="6717411" y="2008251"/>
            <a:ext cx="326898" cy="326898"/>
          </a:xfrm>
          <a:prstGeom prst="rect">
            <a:avLst/>
          </a:prstGeom>
        </p:spPr>
      </p:pic>
      <p:sp>
        <p:nvSpPr>
          <p:cNvPr id="12" name="Text 8"/>
          <p:cNvSpPr/>
          <p:nvPr/>
        </p:nvSpPr>
        <p:spPr>
          <a:xfrm>
            <a:off x="7360920" y="1892808"/>
            <a:ext cx="3931920" cy="50292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Real CIBIL API</a:t>
            </a:r>
            <a:endParaRPr lang="en-US" sz="1450" dirty="0"/>
          </a:p>
        </p:txBody>
      </p:sp>
      <p:sp>
        <p:nvSpPr>
          <p:cNvPr id="13" name="Text 9"/>
          <p:cNvSpPr/>
          <p:nvPr/>
        </p:nvSpPr>
        <p:spPr>
          <a:xfrm>
            <a:off x="6583680" y="2560320"/>
            <a:ext cx="4663440" cy="914400"/>
          </a:xfrm>
          <a:prstGeom prst="rect">
            <a:avLst/>
          </a:prstGeom>
          <a:noFill/>
          <a:ln/>
        </p:spPr>
        <p:txBody>
          <a:bodyPr wrap="square" rtlCol="0" anchor="ctr"/>
          <a:lstStyle/>
          <a:p>
            <a:pPr marL="0" indent="0">
              <a:lnSpc>
                <a:spcPct val="120000"/>
              </a:lnSpc>
              <a:buNone/>
            </a:pPr>
            <a:r>
              <a:rPr lang="en-US" sz="1100" dirty="0">
                <a:solidFill>
                  <a:srgbClr val="5C7080"/>
                </a:solidFill>
                <a:latin typeface="Calibri" pitchFamily="34" charset="0"/>
                <a:ea typeface="Calibri" pitchFamily="34" charset="-122"/>
                <a:cs typeface="Calibri" pitchFamily="34" charset="-120"/>
              </a:rPr>
              <a:t>Integrate an actual credit bureau API to fetch genuine, verified credit scores.</a:t>
            </a:r>
            <a:endParaRPr lang="en-US" sz="1100" dirty="0"/>
          </a:p>
        </p:txBody>
      </p:sp>
      <p:sp>
        <p:nvSpPr>
          <p:cNvPr id="14" name="Shape 10"/>
          <p:cNvSpPr/>
          <p:nvPr/>
        </p:nvSpPr>
        <p:spPr>
          <a:xfrm>
            <a:off x="640080" y="3886200"/>
            <a:ext cx="5212080" cy="1965960"/>
          </a:xfrm>
          <a:prstGeom prst="roundRect">
            <a:avLst>
              <a:gd name="adj" fmla="val 3256"/>
            </a:avLst>
          </a:prstGeom>
          <a:solidFill>
            <a:srgbClr val="FFFFFF"/>
          </a:solidFill>
          <a:ln/>
          <a:effectLst>
            <a:outerShdw blurRad="101600" dist="25400" dir="5400000" algn="bl" rotWithShape="0">
              <a:srgbClr val="000000">
                <a:alpha val="12000"/>
              </a:srgbClr>
            </a:outerShdw>
          </a:effectLst>
        </p:spPr>
      </p:sp>
      <p:sp>
        <p:nvSpPr>
          <p:cNvPr id="15" name="Shape 11"/>
          <p:cNvSpPr/>
          <p:nvPr/>
        </p:nvSpPr>
        <p:spPr>
          <a:xfrm>
            <a:off x="914400" y="4160520"/>
            <a:ext cx="594360" cy="594360"/>
          </a:xfrm>
          <a:prstGeom prst="ellipse">
            <a:avLst/>
          </a:prstGeom>
          <a:solidFill>
            <a:srgbClr val="E6F5F3"/>
          </a:solidFill>
          <a:ln/>
        </p:spPr>
      </p:sp>
      <p:pic>
        <p:nvPicPr>
          <p:cNvPr id="16" name="Image 2" descr="preencoded.png"/>
          <p:cNvPicPr>
            <a:picLocks noChangeAspect="1"/>
          </p:cNvPicPr>
          <p:nvPr/>
        </p:nvPicPr>
        <p:blipFill>
          <a:blip r:embed="rId5"/>
          <a:stretch>
            <a:fillRect/>
          </a:stretch>
        </p:blipFill>
        <p:spPr>
          <a:xfrm>
            <a:off x="1048131" y="4294251"/>
            <a:ext cx="326898" cy="326898"/>
          </a:xfrm>
          <a:prstGeom prst="rect">
            <a:avLst/>
          </a:prstGeom>
        </p:spPr>
      </p:pic>
      <p:sp>
        <p:nvSpPr>
          <p:cNvPr id="17" name="Text 12"/>
          <p:cNvSpPr/>
          <p:nvPr/>
        </p:nvSpPr>
        <p:spPr>
          <a:xfrm>
            <a:off x="1691640" y="4178808"/>
            <a:ext cx="3931920" cy="50292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Mobile Responsiveness</a:t>
            </a:r>
            <a:endParaRPr lang="en-US" sz="1450" dirty="0"/>
          </a:p>
        </p:txBody>
      </p:sp>
      <p:sp>
        <p:nvSpPr>
          <p:cNvPr id="18" name="Text 13"/>
          <p:cNvSpPr/>
          <p:nvPr/>
        </p:nvSpPr>
        <p:spPr>
          <a:xfrm>
            <a:off x="914400" y="4846320"/>
            <a:ext cx="4663440" cy="914400"/>
          </a:xfrm>
          <a:prstGeom prst="rect">
            <a:avLst/>
          </a:prstGeom>
          <a:noFill/>
          <a:ln/>
        </p:spPr>
        <p:txBody>
          <a:bodyPr wrap="square" rtlCol="0" anchor="ctr"/>
          <a:lstStyle/>
          <a:p>
            <a:pPr marL="0" indent="0">
              <a:lnSpc>
                <a:spcPct val="120000"/>
              </a:lnSpc>
              <a:buNone/>
            </a:pPr>
            <a:r>
              <a:rPr lang="en-US" sz="1100" dirty="0">
                <a:solidFill>
                  <a:srgbClr val="5C7080"/>
                </a:solidFill>
                <a:latin typeface="Calibri" pitchFamily="34" charset="0"/>
                <a:ea typeface="Calibri" pitchFamily="34" charset="-122"/>
                <a:cs typeface="Calibri" pitchFamily="34" charset="-120"/>
              </a:rPr>
              <a:t>Extend the responsive CSS further for a fully native-feeling mobile experience.</a:t>
            </a:r>
            <a:endParaRPr lang="en-US" sz="1100" dirty="0"/>
          </a:p>
        </p:txBody>
      </p:sp>
      <p:sp>
        <p:nvSpPr>
          <p:cNvPr id="19" name="Shape 14"/>
          <p:cNvSpPr/>
          <p:nvPr/>
        </p:nvSpPr>
        <p:spPr>
          <a:xfrm>
            <a:off x="6309360" y="3886200"/>
            <a:ext cx="5212080" cy="1965960"/>
          </a:xfrm>
          <a:prstGeom prst="roundRect">
            <a:avLst>
              <a:gd name="adj" fmla="val 3256"/>
            </a:avLst>
          </a:prstGeom>
          <a:solidFill>
            <a:srgbClr val="FFFFFF"/>
          </a:solidFill>
          <a:ln/>
          <a:effectLst>
            <a:outerShdw blurRad="101600" dist="25400" dir="5400000" algn="bl" rotWithShape="0">
              <a:srgbClr val="000000">
                <a:alpha val="12000"/>
              </a:srgbClr>
            </a:outerShdw>
          </a:effectLst>
        </p:spPr>
      </p:sp>
      <p:sp>
        <p:nvSpPr>
          <p:cNvPr id="20" name="Shape 15"/>
          <p:cNvSpPr/>
          <p:nvPr/>
        </p:nvSpPr>
        <p:spPr>
          <a:xfrm>
            <a:off x="6583680" y="4160520"/>
            <a:ext cx="594360" cy="594360"/>
          </a:xfrm>
          <a:prstGeom prst="ellipse">
            <a:avLst/>
          </a:prstGeom>
          <a:solidFill>
            <a:srgbClr val="E6F5F3"/>
          </a:solidFill>
          <a:ln/>
        </p:spPr>
      </p:sp>
      <p:pic>
        <p:nvPicPr>
          <p:cNvPr id="21" name="Image 3" descr="preencoded.png"/>
          <p:cNvPicPr>
            <a:picLocks noChangeAspect="1"/>
          </p:cNvPicPr>
          <p:nvPr/>
        </p:nvPicPr>
        <p:blipFill>
          <a:blip r:embed="rId6"/>
          <a:stretch>
            <a:fillRect/>
          </a:stretch>
        </p:blipFill>
        <p:spPr>
          <a:xfrm>
            <a:off x="6717411" y="4294251"/>
            <a:ext cx="326898" cy="326898"/>
          </a:xfrm>
          <a:prstGeom prst="rect">
            <a:avLst/>
          </a:prstGeom>
        </p:spPr>
      </p:pic>
      <p:sp>
        <p:nvSpPr>
          <p:cNvPr id="22" name="Text 16"/>
          <p:cNvSpPr/>
          <p:nvPr/>
        </p:nvSpPr>
        <p:spPr>
          <a:xfrm>
            <a:off x="7360920" y="4178808"/>
            <a:ext cx="3931920" cy="502920"/>
          </a:xfrm>
          <a:prstGeom prst="rect">
            <a:avLst/>
          </a:prstGeom>
          <a:noFill/>
          <a:ln/>
        </p:spPr>
        <p:txBody>
          <a:bodyPr wrap="square"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Authentication Security</a:t>
            </a:r>
            <a:endParaRPr lang="en-US" sz="1450" dirty="0"/>
          </a:p>
        </p:txBody>
      </p:sp>
      <p:sp>
        <p:nvSpPr>
          <p:cNvPr id="23" name="Text 17"/>
          <p:cNvSpPr/>
          <p:nvPr/>
        </p:nvSpPr>
        <p:spPr>
          <a:xfrm>
            <a:off x="6583680" y="4846320"/>
            <a:ext cx="4663440" cy="914400"/>
          </a:xfrm>
          <a:prstGeom prst="rect">
            <a:avLst/>
          </a:prstGeom>
          <a:noFill/>
          <a:ln/>
        </p:spPr>
        <p:txBody>
          <a:bodyPr wrap="square" rtlCol="0" anchor="ctr"/>
          <a:lstStyle/>
          <a:p>
            <a:pPr marL="0" indent="0">
              <a:lnSpc>
                <a:spcPct val="120000"/>
              </a:lnSpc>
              <a:buNone/>
            </a:pPr>
            <a:r>
              <a:rPr lang="en-US" sz="1100" dirty="0">
                <a:solidFill>
                  <a:srgbClr val="5C7080"/>
                </a:solidFill>
                <a:latin typeface="Calibri" pitchFamily="34" charset="0"/>
                <a:ea typeface="Calibri" pitchFamily="34" charset="-122"/>
                <a:cs typeface="Calibri" pitchFamily="34" charset="-120"/>
              </a:rPr>
              <a:t>Add JWT-based authentication and password hashing for production-grade security.</a:t>
            </a:r>
            <a:endParaRPr lang="en-US" sz="1100" dirty="0"/>
          </a:p>
        </p:txBody>
      </p:sp>
      <p:sp>
        <p:nvSpPr>
          <p:cNvPr id="24" name="Text 1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C7080"/>
                </a:solidFill>
                <a:latin typeface="Calibri" pitchFamily="34" charset="0"/>
                <a:ea typeface="Calibri" pitchFamily="34" charset="-122"/>
                <a:cs typeface="Calibri" pitchFamily="34" charset="-120"/>
              </a:rPr>
              <a:t>Credit CIBIL Score Tracker  |  FEDF Project Review</a:t>
            </a:r>
            <a:endParaRPr lang="en-US" sz="900" dirty="0"/>
          </a:p>
        </p:txBody>
      </p:sp>
      <p:sp>
        <p:nvSpPr>
          <p:cNvPr id="25" name="Text 19"/>
          <p:cNvSpPr/>
          <p:nvPr/>
        </p:nvSpPr>
        <p:spPr>
          <a:xfrm>
            <a:off x="11247120" y="6473952"/>
            <a:ext cx="457200" cy="274320"/>
          </a:xfrm>
          <a:prstGeom prst="rect">
            <a:avLst/>
          </a:prstGeom>
          <a:noFill/>
          <a:ln/>
        </p:spPr>
        <p:txBody>
          <a:bodyPr wrap="square" rtlCol="0" anchor="ctr"/>
          <a:lstStyle/>
          <a:p>
            <a:pPr marL="0" indent="0" algn="r">
              <a:buNone/>
            </a:pPr>
            <a:r>
              <a:rPr lang="en-US" sz="900" dirty="0">
                <a:solidFill>
                  <a:srgbClr val="5C70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C7C73">
              <a:alpha val="18000"/>
            </a:srgbClr>
          </a:solidFill>
          <a:ln/>
        </p:spPr>
      </p:sp>
      <p:sp>
        <p:nvSpPr>
          <p:cNvPr id="3" name="Shape 1"/>
          <p:cNvSpPr/>
          <p:nvPr/>
        </p:nvSpPr>
        <p:spPr>
          <a:xfrm>
            <a:off x="9875520" y="4114800"/>
            <a:ext cx="4114800" cy="4114800"/>
          </a:xfrm>
          <a:prstGeom prst="ellipse">
            <a:avLst/>
          </a:prstGeom>
          <a:solidFill>
            <a:srgbClr val="13A89E">
              <a:alpha val="15000"/>
            </a:srgbClr>
          </a:solidFill>
          <a:ln/>
        </p:spPr>
      </p:sp>
      <p:sp>
        <p:nvSpPr>
          <p:cNvPr id="4" name="Shape 2"/>
          <p:cNvSpPr/>
          <p:nvPr/>
        </p:nvSpPr>
        <p:spPr>
          <a:xfrm>
            <a:off x="822960" y="731520"/>
            <a:ext cx="777240" cy="777240"/>
          </a:xfrm>
          <a:prstGeom prst="ellipse">
            <a:avLst/>
          </a:prstGeom>
          <a:solidFill>
            <a:srgbClr val="0C7C73"/>
          </a:solidFill>
          <a:ln/>
        </p:spPr>
      </p:sp>
      <p:pic>
        <p:nvPicPr>
          <p:cNvPr id="5" name="Image 0" descr="preencoded.png"/>
          <p:cNvPicPr>
            <a:picLocks noChangeAspect="1"/>
          </p:cNvPicPr>
          <p:nvPr/>
        </p:nvPicPr>
        <p:blipFill>
          <a:blip r:embed="rId3"/>
          <a:stretch>
            <a:fillRect/>
          </a:stretch>
        </p:blipFill>
        <p:spPr>
          <a:xfrm>
            <a:off x="997839" y="906399"/>
            <a:ext cx="427482" cy="427482"/>
          </a:xfrm>
          <a:prstGeom prst="rect">
            <a:avLst/>
          </a:prstGeom>
        </p:spPr>
      </p:pic>
      <p:sp>
        <p:nvSpPr>
          <p:cNvPr id="6" name="Text 3"/>
          <p:cNvSpPr/>
          <p:nvPr/>
        </p:nvSpPr>
        <p:spPr>
          <a:xfrm>
            <a:off x="1783080" y="841248"/>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7" name="Text 4"/>
          <p:cNvSpPr/>
          <p:nvPr/>
        </p:nvSpPr>
        <p:spPr>
          <a:xfrm>
            <a:off x="822960" y="1737360"/>
            <a:ext cx="10332720" cy="914400"/>
          </a:xfrm>
          <a:prstGeom prst="rect">
            <a:avLst/>
          </a:prstGeom>
          <a:noFill/>
          <a:ln/>
        </p:spPr>
        <p:txBody>
          <a:bodyPr wrap="square" rtlCol="0" anchor="ctr"/>
          <a:lstStyle/>
          <a:p>
            <a:pPr marL="0" indent="0">
              <a:lnSpc>
                <a:spcPct val="130000"/>
              </a:lnSpc>
              <a:buNone/>
            </a:pPr>
            <a:r>
              <a:rPr lang="en-US" sz="1500" dirty="0">
                <a:solidFill>
                  <a:srgbClr val="D7E4F0"/>
                </a:solidFill>
                <a:latin typeface="Calibri" pitchFamily="34" charset="0"/>
                <a:ea typeface="Calibri" pitchFamily="34" charset="-122"/>
                <a:cs typeface="Calibri" pitchFamily="34" charset="-120"/>
              </a:rPr>
              <a:t>The Credit CIBIL Score Tracker successfully demonstrates how core React.js concepts — components, hooks, Context API, and React Router — can be combined to build a complete, multi-module banking application entirely on the frontend.</a:t>
            </a:r>
            <a:endParaRPr lang="en-US" sz="1500" dirty="0"/>
          </a:p>
        </p:txBody>
      </p:sp>
      <p:sp>
        <p:nvSpPr>
          <p:cNvPr id="8" name="Shape 5"/>
          <p:cNvSpPr/>
          <p:nvPr/>
        </p:nvSpPr>
        <p:spPr>
          <a:xfrm>
            <a:off x="822960" y="2926080"/>
            <a:ext cx="10332720" cy="868680"/>
          </a:xfrm>
          <a:prstGeom prst="roundRect">
            <a:avLst>
              <a:gd name="adj" fmla="val 6316"/>
            </a:avLst>
          </a:prstGeom>
          <a:solidFill>
            <a:srgbClr val="12345E"/>
          </a:solidFill>
          <a:ln/>
        </p:spPr>
      </p:sp>
      <p:sp>
        <p:nvSpPr>
          <p:cNvPr id="9" name="Shape 6"/>
          <p:cNvSpPr/>
          <p:nvPr/>
        </p:nvSpPr>
        <p:spPr>
          <a:xfrm>
            <a:off x="1051560" y="3090672"/>
            <a:ext cx="548640" cy="548640"/>
          </a:xfrm>
          <a:prstGeom prst="ellipse">
            <a:avLst/>
          </a:prstGeom>
          <a:solidFill>
            <a:srgbClr val="8FE3D9"/>
          </a:solidFill>
          <a:ln/>
        </p:spPr>
      </p:sp>
      <p:pic>
        <p:nvPicPr>
          <p:cNvPr id="10" name="Image 1" descr="preencoded.png"/>
          <p:cNvPicPr>
            <a:picLocks noChangeAspect="1"/>
          </p:cNvPicPr>
          <p:nvPr/>
        </p:nvPicPr>
        <p:blipFill>
          <a:blip r:embed="rId4"/>
          <a:stretch>
            <a:fillRect/>
          </a:stretch>
        </p:blipFill>
        <p:spPr>
          <a:xfrm>
            <a:off x="1175004" y="3214116"/>
            <a:ext cx="301752" cy="301752"/>
          </a:xfrm>
          <a:prstGeom prst="rect">
            <a:avLst/>
          </a:prstGeom>
        </p:spPr>
      </p:pic>
      <p:sp>
        <p:nvSpPr>
          <p:cNvPr id="11" name="Text 7"/>
          <p:cNvSpPr/>
          <p:nvPr/>
        </p:nvSpPr>
        <p:spPr>
          <a:xfrm>
            <a:off x="1828800" y="3017520"/>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All 10 required modules implemented</a:t>
            </a:r>
            <a:endParaRPr lang="en-US" sz="1400" dirty="0"/>
          </a:p>
        </p:txBody>
      </p:sp>
      <p:sp>
        <p:nvSpPr>
          <p:cNvPr id="12" name="Text 8"/>
          <p:cNvSpPr/>
          <p:nvPr/>
        </p:nvSpPr>
        <p:spPr>
          <a:xfrm>
            <a:off x="6949440" y="3017520"/>
            <a:ext cx="4023360" cy="365760"/>
          </a:xfrm>
          <a:prstGeom prst="rect">
            <a:avLst/>
          </a:prstGeom>
          <a:noFill/>
          <a:ln/>
        </p:spPr>
        <p:txBody>
          <a:bodyPr wrap="square" rtlCol="0" anchor="ctr"/>
          <a:lstStyle/>
          <a:p>
            <a:pPr marL="0" indent="0">
              <a:buNone/>
            </a:pPr>
            <a:r>
              <a:rPr lang="en-US" sz="1150" dirty="0">
                <a:solidFill>
                  <a:srgbClr val="AFC4D6"/>
                </a:solidFill>
                <a:latin typeface="Calibri" pitchFamily="34" charset="0"/>
                <a:ea typeface="Calibri" pitchFamily="34" charset="-122"/>
                <a:cs typeface="Calibri" pitchFamily="34" charset="-120"/>
              </a:rPr>
              <a:t>From score display to admin panel and export</a:t>
            </a:r>
            <a:endParaRPr lang="en-US" sz="1150" dirty="0"/>
          </a:p>
        </p:txBody>
      </p:sp>
      <p:sp>
        <p:nvSpPr>
          <p:cNvPr id="13" name="Shape 9"/>
          <p:cNvSpPr/>
          <p:nvPr/>
        </p:nvSpPr>
        <p:spPr>
          <a:xfrm>
            <a:off x="822960" y="4005072"/>
            <a:ext cx="10332720" cy="868680"/>
          </a:xfrm>
          <a:prstGeom prst="roundRect">
            <a:avLst>
              <a:gd name="adj" fmla="val 6316"/>
            </a:avLst>
          </a:prstGeom>
          <a:solidFill>
            <a:srgbClr val="12345E"/>
          </a:solidFill>
          <a:ln/>
        </p:spPr>
      </p:sp>
      <p:sp>
        <p:nvSpPr>
          <p:cNvPr id="14" name="Shape 10"/>
          <p:cNvSpPr/>
          <p:nvPr/>
        </p:nvSpPr>
        <p:spPr>
          <a:xfrm>
            <a:off x="1051560" y="4169664"/>
            <a:ext cx="548640" cy="548640"/>
          </a:xfrm>
          <a:prstGeom prst="ellipse">
            <a:avLst/>
          </a:prstGeom>
          <a:solidFill>
            <a:srgbClr val="8FE3D9"/>
          </a:solidFill>
          <a:ln/>
        </p:spPr>
      </p:sp>
      <p:pic>
        <p:nvPicPr>
          <p:cNvPr id="15" name="Image 2" descr="preencoded.png"/>
          <p:cNvPicPr>
            <a:picLocks noChangeAspect="1"/>
          </p:cNvPicPr>
          <p:nvPr/>
        </p:nvPicPr>
        <p:blipFill>
          <a:blip r:embed="rId5"/>
          <a:stretch>
            <a:fillRect/>
          </a:stretch>
        </p:blipFill>
        <p:spPr>
          <a:xfrm>
            <a:off x="1175004" y="4293108"/>
            <a:ext cx="301752" cy="301752"/>
          </a:xfrm>
          <a:prstGeom prst="rect">
            <a:avLst/>
          </a:prstGeom>
        </p:spPr>
      </p:pic>
      <p:sp>
        <p:nvSpPr>
          <p:cNvPr id="16" name="Text 11"/>
          <p:cNvSpPr/>
          <p:nvPr/>
        </p:nvSpPr>
        <p:spPr>
          <a:xfrm>
            <a:off x="1828800" y="4096512"/>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Maps to all 6 Course Outcomes</a:t>
            </a:r>
            <a:endParaRPr lang="en-US" sz="1400" dirty="0"/>
          </a:p>
        </p:txBody>
      </p:sp>
      <p:sp>
        <p:nvSpPr>
          <p:cNvPr id="17" name="Text 12"/>
          <p:cNvSpPr/>
          <p:nvPr/>
        </p:nvSpPr>
        <p:spPr>
          <a:xfrm>
            <a:off x="6949440" y="4096512"/>
            <a:ext cx="4023360" cy="365760"/>
          </a:xfrm>
          <a:prstGeom prst="rect">
            <a:avLst/>
          </a:prstGeom>
          <a:noFill/>
          <a:ln/>
        </p:spPr>
        <p:txBody>
          <a:bodyPr wrap="square" rtlCol="0" anchor="ctr"/>
          <a:lstStyle/>
          <a:p>
            <a:pPr marL="0" indent="0">
              <a:buNone/>
            </a:pPr>
            <a:r>
              <a:rPr lang="en-US" sz="1150" dirty="0">
                <a:solidFill>
                  <a:srgbClr val="AFC4D6"/>
                </a:solidFill>
                <a:latin typeface="Calibri" pitchFamily="34" charset="0"/>
                <a:ea typeface="Calibri" pitchFamily="34" charset="-122"/>
                <a:cs typeface="Calibri" pitchFamily="34" charset="-120"/>
              </a:rPr>
              <a:t>CO1 through CO6 applied across the codebase</a:t>
            </a:r>
            <a:endParaRPr lang="en-US" sz="1150" dirty="0"/>
          </a:p>
        </p:txBody>
      </p:sp>
      <p:sp>
        <p:nvSpPr>
          <p:cNvPr id="18" name="Shape 13"/>
          <p:cNvSpPr/>
          <p:nvPr/>
        </p:nvSpPr>
        <p:spPr>
          <a:xfrm>
            <a:off x="822960" y="5084064"/>
            <a:ext cx="10332720" cy="868680"/>
          </a:xfrm>
          <a:prstGeom prst="roundRect">
            <a:avLst>
              <a:gd name="adj" fmla="val 6316"/>
            </a:avLst>
          </a:prstGeom>
          <a:solidFill>
            <a:srgbClr val="12345E"/>
          </a:solidFill>
          <a:ln/>
        </p:spPr>
      </p:sp>
      <p:sp>
        <p:nvSpPr>
          <p:cNvPr id="19" name="Shape 14"/>
          <p:cNvSpPr/>
          <p:nvPr/>
        </p:nvSpPr>
        <p:spPr>
          <a:xfrm>
            <a:off x="1051560" y="5248656"/>
            <a:ext cx="548640" cy="548640"/>
          </a:xfrm>
          <a:prstGeom prst="ellipse">
            <a:avLst/>
          </a:prstGeom>
          <a:solidFill>
            <a:srgbClr val="8FE3D9"/>
          </a:solidFill>
          <a:ln/>
        </p:spPr>
      </p:sp>
      <p:pic>
        <p:nvPicPr>
          <p:cNvPr id="20" name="Image 3" descr="preencoded.png"/>
          <p:cNvPicPr>
            <a:picLocks noChangeAspect="1"/>
          </p:cNvPicPr>
          <p:nvPr/>
        </p:nvPicPr>
        <p:blipFill>
          <a:blip r:embed="rId6"/>
          <a:stretch>
            <a:fillRect/>
          </a:stretch>
        </p:blipFill>
        <p:spPr>
          <a:xfrm>
            <a:off x="1175004" y="5372100"/>
            <a:ext cx="301752" cy="301752"/>
          </a:xfrm>
          <a:prstGeom prst="rect">
            <a:avLst/>
          </a:prstGeom>
        </p:spPr>
      </p:pic>
      <p:sp>
        <p:nvSpPr>
          <p:cNvPr id="21" name="Text 15"/>
          <p:cNvSpPr/>
          <p:nvPr/>
        </p:nvSpPr>
        <p:spPr>
          <a:xfrm>
            <a:off x="1828800" y="5175504"/>
            <a:ext cx="50292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Built collaboratively by a team of 2</a:t>
            </a:r>
            <a:endParaRPr lang="en-US" sz="1400" dirty="0"/>
          </a:p>
        </p:txBody>
      </p:sp>
      <p:sp>
        <p:nvSpPr>
          <p:cNvPr id="22" name="Text 16"/>
          <p:cNvSpPr/>
          <p:nvPr/>
        </p:nvSpPr>
        <p:spPr>
          <a:xfrm>
            <a:off x="6949440" y="5175504"/>
            <a:ext cx="4023360" cy="365760"/>
          </a:xfrm>
          <a:prstGeom prst="rect">
            <a:avLst/>
          </a:prstGeom>
          <a:noFill/>
          <a:ln/>
        </p:spPr>
        <p:txBody>
          <a:bodyPr wrap="square" rtlCol="0" anchor="ctr"/>
          <a:lstStyle/>
          <a:p>
            <a:pPr marL="0" indent="0">
              <a:buNone/>
            </a:pPr>
            <a:r>
              <a:rPr lang="en-US" sz="1150" dirty="0">
                <a:solidFill>
                  <a:srgbClr val="AFC4D6"/>
                </a:solidFill>
                <a:latin typeface="Calibri" pitchFamily="34" charset="0"/>
                <a:ea typeface="Calibri" pitchFamily="34" charset="-122"/>
                <a:cs typeface="Calibri" pitchFamily="34" charset="-120"/>
              </a:rPr>
              <a:t>Clear module ownership and shared architecture</a:t>
            </a:r>
            <a:endParaRPr lang="en-US" sz="1150" dirty="0"/>
          </a:p>
        </p:txBody>
      </p:sp>
      <p:sp>
        <p:nvSpPr>
          <p:cNvPr id="23" name="Text 17"/>
          <p:cNvSpPr/>
          <p:nvPr/>
        </p:nvSpPr>
        <p:spPr>
          <a:xfrm>
            <a:off x="822960" y="6172200"/>
            <a:ext cx="5486400" cy="365760"/>
          </a:xfrm>
          <a:prstGeom prst="rect">
            <a:avLst/>
          </a:prstGeom>
          <a:noFill/>
          <a:ln/>
        </p:spPr>
        <p:txBody>
          <a:bodyPr wrap="square" rtlCol="0" anchor="ctr"/>
          <a:lstStyle/>
          <a:p>
            <a:pPr marL="0" indent="0">
              <a:buNone/>
            </a:pPr>
            <a:r>
              <a:rPr lang="en-US" sz="1600" b="1" dirty="0">
                <a:solidFill>
                  <a:srgbClr val="8FE3D9"/>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1858</Words>
  <Application>Microsoft Office PowerPoint</Application>
  <PresentationFormat>Widescreen</PresentationFormat>
  <Paragraphs>286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CIBIL Score Tracker</dc:title>
  <dc:subject>PptxGenJS Presentation</dc:subject>
  <dc:creator>Battagiri Ranga Charvik</dc:creator>
  <cp:lastModifiedBy>Ranga Charvik Battagiri</cp:lastModifiedBy>
  <cp:revision>2</cp:revision>
  <dcterms:created xsi:type="dcterms:W3CDTF">2026-06-19T05:58:32Z</dcterms:created>
  <dcterms:modified xsi:type="dcterms:W3CDTF">2026-06-19T15:03:07Z</dcterms:modified>
</cp:coreProperties>
</file>